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acticalPtx_logo_v6_digital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4F7F2"/>
                </a:solidFill>
                <a:latin typeface="Calibri"/>
              </a:defRPr>
            </a:pPr>
            <a:r>
              <a:t>PLAN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2EC4B6"/>
                </a:solidFill>
                <a:latin typeface="Calibri"/>
              </a:defRPr>
            </a:pPr>
            <a:r>
              <a:t>Ciclo ejecutivo de 5 semanas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5A0"/>
                </a:solidFill>
                <a:latin typeface="Calibri"/>
              </a:defRPr>
            </a:pPr>
            <a:r>
              <a:t>TacticalPtx — PTT · Chat · GPS · Despacho</a:t>
            </a:r>
            <a:br/>
            <a:r>
              <a:t>Planeación → Desarrollo → Pruebas → Entrega → Retroalimentación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43600"/>
            <a:ext cx="2926080" cy="73152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Documento ejecutivo  ·  ago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4B6"/>
                </a:solidFill>
                <a:latin typeface="Calibri"/>
              </a:defRPr>
            </a:pPr>
            <a:r>
              <a:t>MARCO DEL 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Números que guían el ciclo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4B6"/>
                </a:solidFill>
                <a:latin typeface="Calibri"/>
              </a:defRPr>
            </a:pPr>
            <a:r>
              <a:t>~1.000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B5A0"/>
                </a:solidFill>
                <a:latin typeface="Calibri"/>
              </a:defRPr>
            </a:pPr>
            <a:r>
              <a:t>Usuarios objetivo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6459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4B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B5A0"/>
                </a:solidFill>
                <a:latin typeface="Calibri"/>
              </a:defRPr>
            </a:pPr>
            <a:r>
              <a:t>Plataformas</a:t>
            </a:r>
            <a:br/>
            <a:r>
              <a:t>Web · Android · 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459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4B6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B5A0"/>
                </a:solidFill>
                <a:latin typeface="Calibri"/>
              </a:defRPr>
            </a:pPr>
            <a:r>
              <a:t>Semanas</a:t>
            </a:r>
            <a:br/>
            <a:r>
              <a:t>del ciclo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6459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237744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EC4B6"/>
                </a:solidFill>
                <a:latin typeface="Calibri"/>
              </a:defRPr>
            </a:pPr>
            <a:r>
              <a:t>&lt;500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84048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B5A0"/>
                </a:solidFill>
                <a:latin typeface="Calibri"/>
              </a:defRPr>
            </a:pPr>
            <a:r>
              <a:t>Latencia PTT</a:t>
            </a:r>
            <a:br/>
            <a:r>
              <a:t>objetivo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4B6"/>
                </a:solidFill>
                <a:latin typeface="Calibri"/>
              </a:defRPr>
            </a:pPr>
            <a:r>
              <a:t>HOJA DE RUTA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Cinco semanas · un objetivo por etapa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147104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283464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834640"/>
            <a:ext cx="2103120" cy="109728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4B6"/>
                </a:solidFill>
                <a:latin typeface="Calibri"/>
              </a:defRPr>
            </a:pPr>
            <a:r>
              <a:t>SEMANA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Planeación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Análisis · Alcance · Arquitectura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• Alcance v1 (incluido / excluido)</a:t>
            </a:r>
            <a:br/>
            <a:r>
              <a:t>• Arquitectura y stack</a:t>
            </a:r>
            <a:br/>
            <a:r>
              <a:t>• Roles y criterios de éxito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83464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2834640"/>
            <a:ext cx="2103120" cy="109728"/>
          </a:xfrm>
          <a:prstGeom prst="roundRect">
            <a:avLst>
              <a:gd name="adj" fmla="val 15000"/>
            </a:avLst>
          </a:prstGeom>
          <a:solidFill>
            <a:srgbClr val="5A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5A7A3E"/>
                </a:solidFill>
                <a:latin typeface="Calibri"/>
              </a:defRPr>
            </a:pPr>
            <a:r>
              <a:t>SEMANA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79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Desarrollo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79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Backend · Web · App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79" y="4754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• API, PTT, chat, GPS</a:t>
            </a:r>
            <a:br/>
            <a:r>
              <a:t>• Consola de despacho</a:t>
            </a:r>
            <a:br/>
            <a:r>
              <a:t>• APK Android + OTA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83464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74920" y="2834640"/>
            <a:ext cx="2103120" cy="109728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9A227"/>
                </a:solidFill>
                <a:latin typeface="Calibri"/>
              </a:defRPr>
            </a:pPr>
            <a:r>
              <a:t>SEMANA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Pruebas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Campo · Calidad · Carga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754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• Validación voz / GPS / pánico</a:t>
            </a:r>
            <a:br/>
            <a:r>
              <a:t>• Pruebas LAN y 4G</a:t>
            </a:r>
            <a:br/>
            <a:r>
              <a:t>• Checklist MEJORAS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83464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60920" y="2834640"/>
            <a:ext cx="2103120" cy="109728"/>
          </a:xfrm>
          <a:prstGeom prst="roundRect">
            <a:avLst>
              <a:gd name="adj" fmla="val 15000"/>
            </a:avLst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9F0AE"/>
                </a:solidFill>
                <a:latin typeface="Calibri"/>
              </a:defRPr>
            </a:pPr>
            <a:r>
              <a:t>SEMANA 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Entrega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Release · Docs · Operación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4754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• Release etiquetada</a:t>
            </a:r>
            <a:br/>
            <a:r>
              <a:t>• Manuales y bitácora</a:t>
            </a:r>
            <a:br/>
            <a:r>
              <a:t>• APK / consola lista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46920" y="2834640"/>
            <a:ext cx="2103120" cy="32004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46920" y="2834640"/>
            <a:ext cx="2103120" cy="109728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07A3D"/>
                </a:solidFill>
                <a:latin typeface="Calibri"/>
              </a:defRPr>
            </a:pPr>
            <a:r>
              <a:t>SEMANA 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5204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Retroalimentación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Ajustes · Prioridades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47548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• Feedback operadores</a:t>
            </a:r>
            <a:br/>
            <a:r>
              <a:t>• Backlog priorizado</a:t>
            </a:r>
            <a:br/>
            <a:r>
              <a:t>• Fixes rápidos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15000"/>
            </a:avLst>
          </a:prstGeom>
          <a:solidFill>
            <a:srgbClr val="16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4B6"/>
                </a:solidFill>
                <a:latin typeface="Calibri"/>
              </a:defRPr>
            </a:pPr>
            <a:r>
              <a:t>SEMANA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7F2"/>
                </a:solidFill>
                <a:latin typeface="Calibri"/>
              </a:defRPr>
            </a:pPr>
            <a:r>
              <a:t>PLANEACIÓN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502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8B5A0"/>
                </a:solidFill>
                <a:latin typeface="Calibri"/>
              </a:defRPr>
            </a:pPr>
            <a:r>
              <a:t>Análisis · Alcance · Arquitectura</a:t>
            </a:r>
          </a:p>
        </p:txBody>
      </p:sp>
      <p:pic>
        <p:nvPicPr>
          <p:cNvPr id="7" name="Picture 6" descr="wee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10896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31920" y="1645920"/>
            <a:ext cx="7680960" cy="44805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7451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4B6"/>
                </a:solidFill>
                <a:latin typeface="Calibri"/>
              </a:defRPr>
            </a:pPr>
            <a:r>
              <a:t>Foco de la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2316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Alcance v1 (incluido / excluido)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0040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Arquitectura y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97763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Roles y criterios de éxito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75487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75487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Riesgos y definición de hecho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4B6"/>
                </a:solidFill>
                <a:latin typeface="Calibri"/>
              </a:defRPr>
            </a:pPr>
            <a:r>
              <a:t>SEMANA 01  ·  PLANEACIÓN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Alcance integrado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INCLUIDO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A0"/>
                </a:solidFill>
                <a:latin typeface="Calibri"/>
              </a:defRPr>
            </a:pPr>
            <a:r>
              <a:t>▸  PTT grupal (1 hablante / canal)</a:t>
            </a:r>
            <a:br/>
            <a:r>
              <a:t>▸  Chat grupal + DM 1:1</a:t>
            </a:r>
            <a:br/>
            <a:r>
              <a:t>▸  GPS en vivo + mapa despacho</a:t>
            </a:r>
            <a:br/>
            <a:r>
              <a:t>▸  Pánico con ubicación</a:t>
            </a:r>
            <a:br/>
            <a:r>
              <a:t>▸  Consola web (Radio / Seguimiento)</a:t>
            </a:r>
            <a:br/>
            <a:r>
              <a:t>▸  APK Android + actualización OTA</a:t>
            </a:r>
            <a:br/>
            <a:r>
              <a:t>▸  Org: grados, unidades, indicativos</a:t>
            </a:r>
            <a:br/>
            <a:r>
              <a:t>▸  Edge HTTPS público (Caddy)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484632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486400" cy="502920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FUERA DE ALCANCE (v2+)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8B5A0"/>
                </a:solidFill>
                <a:latin typeface="Calibri"/>
              </a:defRPr>
            </a:pPr>
            <a:r>
              <a:t>▸  Radios físicos MOTOTRBO</a:t>
            </a:r>
            <a:br/>
            <a:r>
              <a:t>▸  Grabación legal 24/7 certificada</a:t>
            </a:r>
            <a:br/>
            <a:r>
              <a:t>▸  Video PTT / videollamada</a:t>
            </a:r>
            <a:br/>
            <a:r>
              <a:t>▸  SaaS multi-organización</a:t>
            </a:r>
            <a:br/>
            <a:r>
              <a:t>▸  Facturación integrada</a:t>
            </a:r>
            <a:br/>
            <a:r>
              <a:t>▸  Play Store / App Store (post-piloto)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4B6"/>
                </a:solidFill>
                <a:latin typeface="Calibri"/>
              </a:defRPr>
            </a:pPr>
            <a:r>
              <a:t>SEMANA 01  ·  ENTREGABLES DOCUMENTALES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4F7F2"/>
                </a:solidFill>
                <a:latin typeface="Calibri"/>
              </a:defRPr>
            </a:pPr>
            <a:r>
              <a:t>Toda la planeación en un solo ciclo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Alcance 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Incluido / excluido / éxito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Arquitectura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Stack y flujos PTT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Plan 5 semanas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Este documento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463040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463040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74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Propuesta técnica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Viabilidad y riesgos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2920" y="3749039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Manual usuario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Operador y despacho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749039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83280" y="3749039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Seguridad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Hardening / edge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3749039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3749039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Validación campo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Checklist piloto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3749039"/>
            <a:ext cx="2697480" cy="19659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0" y="3749039"/>
            <a:ext cx="2697480" cy="91440"/>
          </a:xfrm>
          <a:prstGeom prst="roundRect">
            <a:avLst>
              <a:gd name="adj" fmla="val 15000"/>
            </a:avLst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16052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F7F2"/>
                </a:solidFill>
                <a:latin typeface="Calibri"/>
              </a:defRPr>
            </a:pPr>
            <a:r>
              <a:t>Bitácora + Changelog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Trazabilidad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15000"/>
            </a:avLst>
          </a:prstGeom>
          <a:solidFill>
            <a:srgbClr val="16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3E"/>
                </a:solidFill>
                <a:latin typeface="Calibri"/>
              </a:defRPr>
            </a:pPr>
            <a:r>
              <a:t>SEMANA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7F2"/>
                </a:solidFill>
                <a:latin typeface="Calibri"/>
              </a:defRPr>
            </a:pPr>
            <a:r>
              <a:t>DESARROLLO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502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8B5A0"/>
                </a:solidFill>
                <a:latin typeface="Calibri"/>
              </a:defRPr>
            </a:pPr>
            <a:r>
              <a:t>Backend · Web · App</a:t>
            </a:r>
          </a:p>
        </p:txBody>
      </p:sp>
      <p:pic>
        <p:nvPicPr>
          <p:cNvPr id="7" name="Picture 6" descr="wee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10896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31920" y="1645920"/>
            <a:ext cx="7680960" cy="44805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7451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7A3E"/>
                </a:solidFill>
                <a:latin typeface="Calibri"/>
              </a:defRPr>
            </a:pPr>
            <a:r>
              <a:t>Foco de la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2316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5A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API, PTT, chat, GPS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0040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5A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Consola de despacho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97763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5A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APK Android + OTA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75487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5A7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75487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Edge HTTPS /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A7A3E"/>
                </a:solidFill>
                <a:latin typeface="Calibri"/>
              </a:defRPr>
            </a:pPr>
            <a:r>
              <a:t>SEMANA 02  · 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Construcción del producto</a:t>
            </a:r>
          </a:p>
        </p:txBody>
      </p:sp>
      <p:pic>
        <p:nvPicPr>
          <p:cNvPr id="5" name="Picture 4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11155680" cy="5577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8B5A0"/>
                </a:solidFill>
                <a:latin typeface="Calibri"/>
              </a:defRPr>
            </a:pPr>
            <a:r>
              <a:t>* iOS vía Codemagic / TestFlight (requiere Apple Developer)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15000"/>
            </a:avLst>
          </a:prstGeom>
          <a:solidFill>
            <a:srgbClr val="16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  <a:latin typeface="Calibri"/>
              </a:defRPr>
            </a:pPr>
            <a:r>
              <a:t>SEMANA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7F2"/>
                </a:solidFill>
                <a:latin typeface="Calibri"/>
              </a:defRPr>
            </a:pPr>
            <a:r>
              <a:t>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502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8B5A0"/>
                </a:solidFill>
                <a:latin typeface="Calibri"/>
              </a:defRPr>
            </a:pPr>
            <a:r>
              <a:t>Campo · Calidad · Carga</a:t>
            </a:r>
          </a:p>
        </p:txBody>
      </p:sp>
      <p:pic>
        <p:nvPicPr>
          <p:cNvPr id="7" name="Picture 6" descr="wee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10896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31920" y="1645920"/>
            <a:ext cx="7680960" cy="44805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7451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9A227"/>
                </a:solidFill>
                <a:latin typeface="Calibri"/>
              </a:defRPr>
            </a:pPr>
            <a:r>
              <a:t>Foco de la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2316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Validación voz / GPS / pánico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0040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Pruebas LAN y 4G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97763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Checklist MEJORAS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75487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75487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Piloto controlado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9A227"/>
                </a:solidFill>
                <a:latin typeface="Calibri"/>
              </a:defRPr>
            </a:pPr>
            <a:r>
              <a:t>SEMANA 03  · 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Calidad antes de entregar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630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28016" cy="201168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F7F2"/>
                </a:solidFill>
                <a:latin typeface="Calibri"/>
              </a:defRPr>
            </a:pPr>
            <a:r>
              <a:t>Voz PTT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Floor, latencia, 4G/Wi‑Fi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630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128016" cy="201168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874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F7F2"/>
                </a:solidFill>
                <a:latin typeface="Calibri"/>
              </a:defRPr>
            </a:pPr>
            <a:r>
              <a:t>Chat / DM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Envío, media, receipts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630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463040"/>
            <a:ext cx="128016" cy="201168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874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F7F2"/>
                </a:solidFill>
                <a:latin typeface="Calibri"/>
              </a:defRPr>
            </a:pPr>
            <a:r>
              <a:t>GPS / Mapa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560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Presencia y rutas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4903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3749039"/>
            <a:ext cx="128016" cy="201168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F7F2"/>
                </a:solidFill>
                <a:latin typeface="Calibri"/>
              </a:defRPr>
            </a:pPr>
            <a:r>
              <a:t>Pánico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46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Alerta + ubicación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4903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3749039"/>
            <a:ext cx="128016" cy="201168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4160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F7F2"/>
                </a:solidFill>
                <a:latin typeface="Calibri"/>
              </a:defRPr>
            </a:pPr>
            <a:r>
              <a:t>Radio 1:1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46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PTT ambos extremos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749039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92440" y="3749039"/>
            <a:ext cx="128016" cy="201168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200" y="4160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4F7F2"/>
                </a:solidFill>
                <a:latin typeface="Calibri"/>
              </a:defRPr>
            </a:pPr>
            <a:r>
              <a:t>OTA / 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8463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Update APK + HTTPS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15000"/>
            </a:avLst>
          </a:prstGeom>
          <a:solidFill>
            <a:srgbClr val="16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F0AE"/>
                </a:solidFill>
                <a:latin typeface="Calibri"/>
              </a:defRPr>
            </a:pPr>
            <a:r>
              <a:t>SEMANA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7F2"/>
                </a:solidFill>
                <a:latin typeface="Calibri"/>
              </a:defRPr>
            </a:pPr>
            <a:r>
              <a:t>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502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8B5A0"/>
                </a:solidFill>
                <a:latin typeface="Calibri"/>
              </a:defRPr>
            </a:pPr>
            <a:r>
              <a:t>Release · Docs · Operación</a:t>
            </a:r>
          </a:p>
        </p:txBody>
      </p:sp>
      <p:pic>
        <p:nvPicPr>
          <p:cNvPr id="7" name="Picture 6" descr="week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10896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31920" y="1645920"/>
            <a:ext cx="7680960" cy="44805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7451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9F0AE"/>
                </a:solidFill>
                <a:latin typeface="Calibri"/>
              </a:defRPr>
            </a:pPr>
            <a:r>
              <a:t>Foco de la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2316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Release etiquetada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0040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Manuales y bitácora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97763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APK / consola lista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75487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69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75487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Handover operativo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9F0AE"/>
                </a:solidFill>
                <a:latin typeface="Calibri"/>
              </a:defRPr>
            </a:pPr>
            <a:r>
              <a:t>SEMANA 04  ·  ENTREGA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Paquete listo para operación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822960" cy="658368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819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7F2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819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APK release + OTA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94560"/>
            <a:ext cx="822960" cy="658368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5915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7F2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3591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Consola web en edge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97180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971800"/>
            <a:ext cx="822960" cy="658368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13639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7F2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1363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Manuales actualizados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822960" cy="658368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13631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7F2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913631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Credenciales / acceso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52628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0080" y="4526280"/>
            <a:ext cx="822960" cy="658368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9087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7F2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6908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Checklist de go-live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303520"/>
            <a:ext cx="822960" cy="658368"/>
          </a:xfrm>
          <a:prstGeom prst="roundRect">
            <a:avLst>
              <a:gd name="adj" fmla="val 15000"/>
            </a:avLst>
          </a:prstGeom>
          <a:solidFill>
            <a:srgbClr val="3D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46811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4F7F2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546811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Respaldo BD verificado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1234440"/>
          </a:xfrm>
          <a:prstGeom prst="roundRect">
            <a:avLst>
              <a:gd name="adj" fmla="val 15000"/>
            </a:avLst>
          </a:prstGeom>
          <a:solidFill>
            <a:srgbClr val="162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7A3D"/>
                </a:solidFill>
                <a:latin typeface="Calibri"/>
              </a:defRPr>
            </a:pPr>
            <a:r>
              <a:t>SEMANA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4F7F2"/>
                </a:solidFill>
                <a:latin typeface="Calibri"/>
              </a:defRPr>
            </a:pPr>
            <a:r>
              <a:t>RETROALIMENTACIÓN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502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A8B5A0"/>
                </a:solidFill>
                <a:latin typeface="Calibri"/>
              </a:defRPr>
            </a:pPr>
            <a:r>
              <a:t>Ajustes · Prioridades</a:t>
            </a:r>
          </a:p>
        </p:txBody>
      </p:sp>
      <p:pic>
        <p:nvPicPr>
          <p:cNvPr id="7" name="Picture 6" descr="wee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310896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931920" y="1645920"/>
            <a:ext cx="7680960" cy="448056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06240" y="1874519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7A3D"/>
                </a:solidFill>
                <a:latin typeface="Calibri"/>
              </a:defRPr>
            </a:pPr>
            <a:r>
              <a:t>Foco de la semana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42316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42316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Feedback operadores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200400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200400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Backlog priorizado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397763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397763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Fixes rápidos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4754879"/>
            <a:ext cx="109728" cy="502920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754879"/>
            <a:ext cx="6583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F7F2"/>
                </a:solidFill>
                <a:latin typeface="Calibri"/>
              </a:defRPr>
            </a:pPr>
            <a:r>
              <a:t>Plan siguiente ciclo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7A3D"/>
                </a:solidFill>
                <a:latin typeface="Calibri"/>
              </a:defRPr>
            </a:pPr>
            <a:r>
              <a:t>SEMANA 05  ·  RETROALIMENTACIÓN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4F7F2"/>
                </a:solidFill>
                <a:latin typeface="Calibri"/>
              </a:defRPr>
            </a:pPr>
            <a:r>
              <a:t>Escuchar · Priorizar · Ajustar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459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7A3D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F7F2"/>
                </a:solidFill>
                <a:latin typeface="Calibri"/>
              </a:defRPr>
            </a:pPr>
            <a:r>
              <a:t>Recoger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Operadores y despacho</a:t>
            </a:r>
            <a:br/>
            <a:r>
              <a:t>incidencias reales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6459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7A3D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F7F2"/>
                </a:solidFill>
                <a:latin typeface="Calibri"/>
              </a:defRPr>
            </a:pPr>
            <a:r>
              <a:t>Clasificar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Crítico / Importante</a:t>
            </a:r>
            <a:br/>
            <a:r>
              <a:t>/ Mejora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459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7A3D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F7F2"/>
                </a:solidFill>
                <a:latin typeface="Calibri"/>
              </a:defRPr>
            </a:pPr>
            <a:r>
              <a:t>Actuar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Fixes + OTA</a:t>
            </a:r>
            <a:br/>
            <a:r>
              <a:t>en el mismo ciclo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0" y="1645920"/>
            <a:ext cx="2697480" cy="4114800"/>
          </a:xfrm>
          <a:prstGeom prst="roundRect">
            <a:avLst>
              <a:gd name="adj" fmla="val 8000"/>
            </a:avLst>
          </a:prstGeom>
          <a:solidFill>
            <a:srgbClr val="16221A"/>
          </a:solidFill>
          <a:ln w="12700">
            <a:solidFill>
              <a:srgbClr val="2A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0" y="1645920"/>
            <a:ext cx="2697480" cy="109728"/>
          </a:xfrm>
          <a:prstGeom prst="roundRect">
            <a:avLst>
              <a:gd name="adj" fmla="val 15000"/>
            </a:avLst>
          </a:prstGeom>
          <a:solidFill>
            <a:srgbClr val="E0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7A3D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651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F7F2"/>
                </a:solidFill>
                <a:latin typeface="Calibri"/>
              </a:defRPr>
            </a:pPr>
            <a:r>
              <a:t>Planear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5661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8B5A0"/>
                </a:solidFill>
                <a:latin typeface="Calibri"/>
              </a:defRPr>
            </a:pPr>
            <a:r>
              <a:t>Siguiente sprint</a:t>
            </a:r>
            <a:br/>
            <a:r>
              <a:t>con backlog limpio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64592" cy="6858000"/>
          </a:xfrm>
          <a:prstGeom prst="roundRect">
            <a:avLst>
              <a:gd name="adj" fmla="val 15000"/>
            </a:avLst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cticalPtx_logo_v6_digital_cy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926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4F7F2"/>
                </a:solidFill>
                <a:latin typeface="Calibri"/>
              </a:defRPr>
            </a:pPr>
            <a:r>
              <a:t>Listos para ejecutar el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49039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B5A0"/>
                </a:solidFill>
                <a:latin typeface="Calibri"/>
              </a:defRPr>
            </a:pPr>
            <a:r>
              <a:t>Semana 1 consolida alcance y planeación.</a:t>
            </a:r>
            <a:br/>
            <a:r>
              <a:t>Semanas 2–5 convierten el plan en operación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8B5A0"/>
                </a:solidFill>
                <a:latin typeface="Calibri"/>
              </a:defRPr>
            </a:pPr>
            <a:r>
              <a:t>TacticalPtx  ·  C:\pulsanet\Soporte\Documentos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