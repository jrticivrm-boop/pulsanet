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slide" Target="slide1.xml"/><Relationship Id="rId5" Type="http://schemas.openxmlformats.org/officeDocument/2006/relationships/slide" Target="slide2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0" Type="http://schemas.openxmlformats.org/officeDocument/2006/relationships/slide" Target="slide9.xml"/><Relationship Id="rId11" Type="http://schemas.openxmlformats.org/officeDocument/2006/relationships/slide" Target="slide10.xml"/><Relationship Id="rId12" Type="http://schemas.openxmlformats.org/officeDocument/2006/relationships/slide" Target="slide11.xml"/><Relationship Id="rId13" Type="http://schemas.openxmlformats.org/officeDocument/2006/relationships/slide" Target="slide12.xml"/><Relationship Id="rId1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slide" Target="slide1.xml"/><Relationship Id="rId5" Type="http://schemas.openxmlformats.org/officeDocument/2006/relationships/slide" Target="slide2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0" Type="http://schemas.openxmlformats.org/officeDocument/2006/relationships/slide" Target="slide9.xml"/><Relationship Id="rId11" Type="http://schemas.openxmlformats.org/officeDocument/2006/relationships/slide" Target="slide10.xml"/><Relationship Id="rId12" Type="http://schemas.openxmlformats.org/officeDocument/2006/relationships/slide" Target="slide11.xml"/><Relationship Id="rId13" Type="http://schemas.openxmlformats.org/officeDocument/2006/relationships/slide" Target="slide12.xml"/><Relationship Id="rId1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slide" Target="slide1.xml"/><Relationship Id="rId5" Type="http://schemas.openxmlformats.org/officeDocument/2006/relationships/slide" Target="slide2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0" Type="http://schemas.openxmlformats.org/officeDocument/2006/relationships/slide" Target="slide9.xml"/><Relationship Id="rId11" Type="http://schemas.openxmlformats.org/officeDocument/2006/relationships/slide" Target="slide10.xml"/><Relationship Id="rId12" Type="http://schemas.openxmlformats.org/officeDocument/2006/relationships/slide" Target="slide11.xml"/><Relationship Id="rId13" Type="http://schemas.openxmlformats.org/officeDocument/2006/relationships/slide" Target="slide12.xml"/><Relationship Id="rId1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slide" Target="slide1.xml"/><Relationship Id="rId5" Type="http://schemas.openxmlformats.org/officeDocument/2006/relationships/slide" Target="slide2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0" Type="http://schemas.openxmlformats.org/officeDocument/2006/relationships/slide" Target="slide9.xml"/><Relationship Id="rId11" Type="http://schemas.openxmlformats.org/officeDocument/2006/relationships/slide" Target="slide10.xml"/><Relationship Id="rId12" Type="http://schemas.openxmlformats.org/officeDocument/2006/relationships/slide" Target="slide11.xml"/><Relationship Id="rId13" Type="http://schemas.openxmlformats.org/officeDocument/2006/relationships/slide" Target="slide12.xml"/><Relationship Id="rId14" Type="http://schemas.openxmlformats.org/officeDocument/2006/relationships/image" Target="../media/image6.png"/><Relationship Id="rId15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slide" Target="slide1.xml"/><Relationship Id="rId5" Type="http://schemas.openxmlformats.org/officeDocument/2006/relationships/slide" Target="slide2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0" Type="http://schemas.openxmlformats.org/officeDocument/2006/relationships/slide" Target="slide9.xml"/><Relationship Id="rId11" Type="http://schemas.openxmlformats.org/officeDocument/2006/relationships/slide" Target="slide10.xml"/><Relationship Id="rId12" Type="http://schemas.openxmlformats.org/officeDocument/2006/relationships/slide" Target="slide11.xml"/><Relationship Id="rId13" Type="http://schemas.openxmlformats.org/officeDocument/2006/relationships/slide" Target="slide12.xml"/><Relationship Id="rId14" Type="http://schemas.openxmlformats.org/officeDocument/2006/relationships/image" Target="../media/image6.png"/><Relationship Id="rId15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slide" Target="slide1.xml"/><Relationship Id="rId5" Type="http://schemas.openxmlformats.org/officeDocument/2006/relationships/slide" Target="slide2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0" Type="http://schemas.openxmlformats.org/officeDocument/2006/relationships/slide" Target="slide9.xml"/><Relationship Id="rId11" Type="http://schemas.openxmlformats.org/officeDocument/2006/relationships/slide" Target="slide10.xml"/><Relationship Id="rId12" Type="http://schemas.openxmlformats.org/officeDocument/2006/relationships/slide" Target="slide11.xml"/><Relationship Id="rId13" Type="http://schemas.openxmlformats.org/officeDocument/2006/relationships/slide" Target="slide12.xml"/><Relationship Id="rId14" Type="http://schemas.openxmlformats.org/officeDocument/2006/relationships/image" Target="../media/image6.png"/><Relationship Id="rId15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slide" Target="slide1.xml"/><Relationship Id="rId5" Type="http://schemas.openxmlformats.org/officeDocument/2006/relationships/slide" Target="slide2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0" Type="http://schemas.openxmlformats.org/officeDocument/2006/relationships/slide" Target="slide9.xml"/><Relationship Id="rId11" Type="http://schemas.openxmlformats.org/officeDocument/2006/relationships/slide" Target="slide10.xml"/><Relationship Id="rId12" Type="http://schemas.openxmlformats.org/officeDocument/2006/relationships/slide" Target="slide11.xml"/><Relationship Id="rId13" Type="http://schemas.openxmlformats.org/officeDocument/2006/relationships/slide" Target="slide12.xml"/><Relationship Id="rId14" Type="http://schemas.openxmlformats.org/officeDocument/2006/relationships/image" Target="../media/image6.png"/><Relationship Id="rId15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slide" Target="slide1.xml"/><Relationship Id="rId5" Type="http://schemas.openxmlformats.org/officeDocument/2006/relationships/slide" Target="slide2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0" Type="http://schemas.openxmlformats.org/officeDocument/2006/relationships/slide" Target="slide9.xml"/><Relationship Id="rId11" Type="http://schemas.openxmlformats.org/officeDocument/2006/relationships/slide" Target="slide10.xml"/><Relationship Id="rId12" Type="http://schemas.openxmlformats.org/officeDocument/2006/relationships/slide" Target="slide11.xml"/><Relationship Id="rId13" Type="http://schemas.openxmlformats.org/officeDocument/2006/relationships/slide" Target="slide12.xml"/><Relationship Id="rId14" Type="http://schemas.openxmlformats.org/officeDocument/2006/relationships/image" Target="../media/image6.png"/><Relationship Id="rId15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slide" Target="slide1.xml"/><Relationship Id="rId5" Type="http://schemas.openxmlformats.org/officeDocument/2006/relationships/slide" Target="slide2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0" Type="http://schemas.openxmlformats.org/officeDocument/2006/relationships/slide" Target="slide9.xml"/><Relationship Id="rId11" Type="http://schemas.openxmlformats.org/officeDocument/2006/relationships/slide" Target="slide10.xml"/><Relationship Id="rId12" Type="http://schemas.openxmlformats.org/officeDocument/2006/relationships/slide" Target="slide11.xml"/><Relationship Id="rId13" Type="http://schemas.openxmlformats.org/officeDocument/2006/relationships/slide" Target="slide12.xml"/><Relationship Id="rId14" Type="http://schemas.openxmlformats.org/officeDocument/2006/relationships/image" Target="../media/image6.png"/><Relationship Id="rId15" Type="http://schemas.openxmlformats.org/officeDocument/2006/relationships/image" Target="../media/image12.png"/><Relationship Id="rId16" Type="http://schemas.openxmlformats.org/officeDocument/2006/relationships/image" Target="../media/image2.png"/><Relationship Id="rId17" Type="http://schemas.openxmlformats.org/officeDocument/2006/relationships/image" Target="../media/image13.png"/><Relationship Id="rId18" Type="http://schemas.openxmlformats.org/officeDocument/2006/relationships/image" Target="../media/image3.png"/><Relationship Id="rId19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slide" Target="slide1.xml"/><Relationship Id="rId5" Type="http://schemas.openxmlformats.org/officeDocument/2006/relationships/slide" Target="slide2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0" Type="http://schemas.openxmlformats.org/officeDocument/2006/relationships/slide" Target="slide9.xml"/><Relationship Id="rId11" Type="http://schemas.openxmlformats.org/officeDocument/2006/relationships/slide" Target="slide10.xml"/><Relationship Id="rId12" Type="http://schemas.openxmlformats.org/officeDocument/2006/relationships/slide" Target="slide11.xml"/><Relationship Id="rId13" Type="http://schemas.openxmlformats.org/officeDocument/2006/relationships/slide" Target="slide12.xml"/><Relationship Id="rId14" Type="http://schemas.openxmlformats.org/officeDocument/2006/relationships/image" Target="../media/image6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slide" Target="slide1.xml"/><Relationship Id="rId5" Type="http://schemas.openxmlformats.org/officeDocument/2006/relationships/slide" Target="slide2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0" Type="http://schemas.openxmlformats.org/officeDocument/2006/relationships/slide" Target="slide9.xml"/><Relationship Id="rId11" Type="http://schemas.openxmlformats.org/officeDocument/2006/relationships/slide" Target="slide10.xml"/><Relationship Id="rId12" Type="http://schemas.openxmlformats.org/officeDocument/2006/relationships/slide" Target="slide11.xml"/><Relationship Id="rId13" Type="http://schemas.openxmlformats.org/officeDocument/2006/relationships/slide" Target="slide12.xml"/><Relationship Id="rId14" Type="http://schemas.openxmlformats.org/officeDocument/2006/relationships/image" Target="../media/image6.png"/><Relationship Id="rId15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slide" Target="slide1.xml"/><Relationship Id="rId5" Type="http://schemas.openxmlformats.org/officeDocument/2006/relationships/slide" Target="slide2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0" Type="http://schemas.openxmlformats.org/officeDocument/2006/relationships/slide" Target="slide9.xml"/><Relationship Id="rId11" Type="http://schemas.openxmlformats.org/officeDocument/2006/relationships/slide" Target="slide10.xml"/><Relationship Id="rId12" Type="http://schemas.openxmlformats.org/officeDocument/2006/relationships/slide" Target="slide11.xml"/><Relationship Id="rId13" Type="http://schemas.openxmlformats.org/officeDocument/2006/relationships/slide" Target="slide12.xml"/><Relationship Id="rId14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A57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acticalPtx_logo_v6_digital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11480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371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2F2A"/>
                </a:solidFill>
                <a:latin typeface="Calibri"/>
              </a:defRPr>
            </a:pPr>
            <a:r>
              <a:t>SECRETARÍA DE LA DEFENSA NACIONAL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C6663"/>
                </a:solidFill>
                <a:latin typeface="Calibri"/>
              </a:defRPr>
            </a:pPr>
            <a:r>
              <a:t>Ciclo de Vida del Desarrollo de Sistemas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61A1D"/>
                </a:solidFill>
                <a:latin typeface="Calibri"/>
              </a:defRPr>
            </a:pPr>
            <a:r>
              <a:t>Plan ejecutivo</a:t>
            </a:r>
            <a:br/>
            <a:r>
              <a:t>en 5 semanas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C6663"/>
                </a:solidFill>
                <a:latin typeface="Calibri"/>
              </a:defRPr>
            </a:pPr>
            <a:r>
              <a:t>TacticalPtx — PTT · Chat · GPS · Pánico · Despacho</a:t>
            </a:r>
          </a:p>
        </p:txBody>
      </p:sp>
      <p:pic>
        <p:nvPicPr>
          <p:cNvPr id="10" name="Picture 9" descr="web_despacho_map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663440"/>
            <a:ext cx="2331720" cy="1554480"/>
          </a:xfrm>
          <a:prstGeom prst="rect">
            <a:avLst/>
          </a:prstGeom>
        </p:spPr>
      </p:pic>
      <p:pic>
        <p:nvPicPr>
          <p:cNvPr id="11" name="Picture 10" descr="android_radio_pt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4663440"/>
            <a:ext cx="1036320" cy="1554480"/>
          </a:xfrm>
          <a:prstGeom prst="rect">
            <a:avLst/>
          </a:prstGeom>
        </p:spPr>
      </p:pic>
      <p:pic>
        <p:nvPicPr>
          <p:cNvPr id="12" name="Picture 11" descr="pruebas_soldados_pt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59" y="4663440"/>
            <a:ext cx="2331720" cy="1554480"/>
          </a:xfrm>
          <a:prstGeom prst="rect">
            <a:avLst/>
          </a:prstGeom>
        </p:spPr>
      </p:pic>
      <p:sp>
        <p:nvSpPr>
          <p:cNvPr id="13" name="Rounded Rectangle 12">
            <a:hlinkClick action="ppaction://hlinksldjump" r:id="rId6"/>
          </p:cNvPr>
          <p:cNvSpPr/>
          <p:nvPr/>
        </p:nvSpPr>
        <p:spPr>
          <a:xfrm>
            <a:off x="9601200" y="1371600"/>
            <a:ext cx="2103120" cy="502920"/>
          </a:xfrm>
          <a:prstGeom prst="roundRect">
            <a:avLst>
              <a:gd name="adj" fmla="val 6000"/>
            </a:avLst>
          </a:prstGeom>
          <a:solidFill>
            <a:srgbClr val="002F2A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0" y="1463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Comenzar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57200"/>
          </a:xfrm>
          <a:prstGeom prst="rect">
            <a:avLst/>
          </a:prstGeom>
        </p:spPr>
      </p:pic>
      <p:pic>
        <p:nvPicPr>
          <p:cNvPr id="4" name="Picture 3" descr="TacticalPtx_logo_v6_digital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5720"/>
            <a:ext cx="347472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7315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Defensa  ·  TacticalPtx  ·  CVDS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731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D0E0DC"/>
                </a:solidFill>
                <a:latin typeface="Calibri"/>
              </a:defRPr>
            </a:pPr>
            <a:r>
              <a:t>Menú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274320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Inicio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1444752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002F2A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4752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Menú</a:t>
            </a:r>
          </a:p>
        </p:txBody>
      </p:sp>
      <p:sp>
        <p:nvSpPr>
          <p:cNvPr id="11" name="Rounded Rectangle 10">
            <a:hlinkClick action="ppaction://hlinksldjump" r:id="rId6"/>
          </p:cNvPr>
          <p:cNvSpPr/>
          <p:nvPr/>
        </p:nvSpPr>
        <p:spPr>
          <a:xfrm>
            <a:off x="2615184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15184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S1</a:t>
            </a:r>
          </a:p>
        </p:txBody>
      </p:sp>
      <p:sp>
        <p:nvSpPr>
          <p:cNvPr id="13" name="Rounded Rectangle 12">
            <a:hlinkClick action="ppaction://hlinksldjump" r:id="rId7"/>
          </p:cNvPr>
          <p:cNvSpPr/>
          <p:nvPr/>
        </p:nvSpPr>
        <p:spPr>
          <a:xfrm>
            <a:off x="3785616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85616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S2</a:t>
            </a:r>
          </a:p>
        </p:txBody>
      </p:sp>
      <p:sp>
        <p:nvSpPr>
          <p:cNvPr id="15" name="Rounded Rectangle 14">
            <a:hlinkClick action="ppaction://hlinksldjump" r:id="rId8"/>
          </p:cNvPr>
          <p:cNvSpPr/>
          <p:nvPr/>
        </p:nvSpPr>
        <p:spPr>
          <a:xfrm>
            <a:off x="4956048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S3</a:t>
            </a:r>
          </a:p>
        </p:txBody>
      </p:sp>
      <p:sp>
        <p:nvSpPr>
          <p:cNvPr id="17" name="Rounded Rectangle 16">
            <a:hlinkClick action="ppaction://hlinksldjump" r:id="rId9"/>
          </p:cNvPr>
          <p:cNvSpPr/>
          <p:nvPr/>
        </p:nvSpPr>
        <p:spPr>
          <a:xfrm>
            <a:off x="6126480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S4</a:t>
            </a:r>
          </a:p>
        </p:txBody>
      </p:sp>
      <p:sp>
        <p:nvSpPr>
          <p:cNvPr id="19" name="Rounded Rectangle 18">
            <a:hlinkClick action="ppaction://hlinksldjump" r:id="rId10"/>
          </p:cNvPr>
          <p:cNvSpPr/>
          <p:nvPr/>
        </p:nvSpPr>
        <p:spPr>
          <a:xfrm>
            <a:off x="7296912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96912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S5</a:t>
            </a:r>
          </a:p>
        </p:txBody>
      </p:sp>
      <p:sp>
        <p:nvSpPr>
          <p:cNvPr id="21" name="Rounded Rectangle 20">
            <a:hlinkClick action="ppaction://hlinksldjump" r:id="rId11"/>
          </p:cNvPr>
          <p:cNvSpPr/>
          <p:nvPr/>
        </p:nvSpPr>
        <p:spPr>
          <a:xfrm>
            <a:off x="8467344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UI</a:t>
            </a:r>
          </a:p>
        </p:txBody>
      </p:sp>
      <p:sp>
        <p:nvSpPr>
          <p:cNvPr id="23" name="Rounded Rectangle 22">
            <a:hlinkClick action="ppaction://hlinksldjump" r:id="rId12"/>
          </p:cNvPr>
          <p:cNvSpPr/>
          <p:nvPr/>
        </p:nvSpPr>
        <p:spPr>
          <a:xfrm>
            <a:off x="9637776" y="566928"/>
            <a:ext cx="13258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37776" y="603504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Diagramas</a:t>
            </a:r>
          </a:p>
        </p:txBody>
      </p:sp>
      <p:sp>
        <p:nvSpPr>
          <p:cNvPr id="25" name="Rounded Rectangle 24">
            <a:hlinkClick action="ppaction://hlinksldjump" r:id="rId13"/>
          </p:cNvPr>
          <p:cNvSpPr/>
          <p:nvPr/>
        </p:nvSpPr>
        <p:spPr>
          <a:xfrm>
            <a:off x="11036808" y="566928"/>
            <a:ext cx="13258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36808" y="603504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Pruebas+</a:t>
            </a:r>
          </a:p>
        </p:txBody>
      </p:sp>
      <p:pic>
        <p:nvPicPr>
          <p:cNvPr id="27" name="Picture 26" descr="footer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6537960"/>
            <a:ext cx="12191695" cy="3200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20040" y="6583680"/>
            <a:ext cx="11521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663"/>
                </a:solidFill>
                <a:latin typeface="Calibri"/>
              </a:defRPr>
            </a:pPr>
            <a:r>
              <a:t>TacticalPtx  |  APK 1.8.46+55 · API 1.8.21  |  Agosto 2026  |  Clic en chips para navegar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61A1D"/>
                </a:solidFill>
                <a:latin typeface="Calibri"/>
              </a:defRPr>
            </a:pPr>
            <a:r>
              <a:t>Navegación interactiva</a:t>
            </a:r>
          </a:p>
        </p:txBody>
      </p:sp>
      <p:sp>
        <p:nvSpPr>
          <p:cNvPr id="30" name="Rounded Rectangle 29">
            <a:hlinkClick action="ppaction://hlinksldjump" r:id="rId6"/>
          </p:cNvPr>
          <p:cNvSpPr/>
          <p:nvPr/>
        </p:nvSpPr>
        <p:spPr>
          <a:xfrm>
            <a:off x="365760" y="1645920"/>
            <a:ext cx="2743200" cy="196596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1645920"/>
            <a:ext cx="2743200" cy="411480"/>
          </a:xfrm>
          <a:prstGeom prst="rect">
            <a:avLst/>
          </a:prstGeom>
          <a:solidFill>
            <a:srgbClr val="00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17190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S1 Análisis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23774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663"/>
                </a:solidFill>
                <a:latin typeface="Calibri"/>
              </a:defRPr>
            </a:pPr>
            <a:r>
              <a:t>Requerimientos y modelos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108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5B4F"/>
                </a:solidFill>
                <a:latin typeface="Calibri"/>
              </a:defRPr>
            </a:pPr>
            <a:r>
              <a:t>Abrir →</a:t>
            </a:r>
          </a:p>
        </p:txBody>
      </p:sp>
      <p:sp>
        <p:nvSpPr>
          <p:cNvPr id="35" name="Rounded Rectangle 34">
            <a:hlinkClick action="ppaction://hlinksldjump" r:id="rId7"/>
          </p:cNvPr>
          <p:cNvSpPr/>
          <p:nvPr/>
        </p:nvSpPr>
        <p:spPr>
          <a:xfrm>
            <a:off x="3291840" y="1645920"/>
            <a:ext cx="2743200" cy="196596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91840" y="1645920"/>
            <a:ext cx="2743200" cy="411480"/>
          </a:xfrm>
          <a:prstGeom prst="rect">
            <a:avLst/>
          </a:prstGeom>
          <a:solidFill>
            <a:srgbClr val="00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17190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S2 Diseño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23774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663"/>
                </a:solidFill>
                <a:latin typeface="Calibri"/>
              </a:defRPr>
            </a:pPr>
            <a:r>
              <a:t>Vistas y accesos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3108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5B4F"/>
                </a:solidFill>
                <a:latin typeface="Calibri"/>
              </a:defRPr>
            </a:pPr>
            <a:r>
              <a:t>Abrir →</a:t>
            </a:r>
          </a:p>
        </p:txBody>
      </p:sp>
      <p:sp>
        <p:nvSpPr>
          <p:cNvPr id="40" name="Rounded Rectangle 39">
            <a:hlinkClick action="ppaction://hlinksldjump" r:id="rId8"/>
          </p:cNvPr>
          <p:cNvSpPr/>
          <p:nvPr/>
        </p:nvSpPr>
        <p:spPr>
          <a:xfrm>
            <a:off x="6217920" y="1645920"/>
            <a:ext cx="2743200" cy="196596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1645920"/>
            <a:ext cx="2743200" cy="411480"/>
          </a:xfrm>
          <a:prstGeom prst="rect">
            <a:avLst/>
          </a:prstGeom>
          <a:solidFill>
            <a:srgbClr val="00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17190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S3 Desarrollo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23774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663"/>
                </a:solidFill>
                <a:latin typeface="Calibri"/>
              </a:defRPr>
            </a:pPr>
            <a:r>
              <a:t>Web · Android · API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3108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5B4F"/>
                </a:solidFill>
                <a:latin typeface="Calibri"/>
              </a:defRPr>
            </a:pPr>
            <a:r>
              <a:t>Abrir →</a:t>
            </a:r>
          </a:p>
        </p:txBody>
      </p:sp>
      <p:sp>
        <p:nvSpPr>
          <p:cNvPr id="45" name="Rounded Rectangle 44">
            <a:hlinkClick action="ppaction://hlinksldjump" r:id="rId9"/>
          </p:cNvPr>
          <p:cNvSpPr/>
          <p:nvPr/>
        </p:nvSpPr>
        <p:spPr>
          <a:xfrm>
            <a:off x="9144000" y="1645920"/>
            <a:ext cx="2743200" cy="196596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144000" y="1645920"/>
            <a:ext cx="2743200" cy="411480"/>
          </a:xfrm>
          <a:prstGeom prst="rect">
            <a:avLst/>
          </a:prstGeom>
          <a:solidFill>
            <a:srgbClr val="00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0" y="17190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S4 Pruebas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23774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663"/>
                </a:solidFill>
                <a:latin typeface="Calibri"/>
              </a:defRPr>
            </a:pPr>
            <a:r>
              <a:t>Módulos y campo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3108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5B4F"/>
                </a:solidFill>
                <a:latin typeface="Calibri"/>
              </a:defRPr>
            </a:pPr>
            <a:r>
              <a:t>Abrir →</a:t>
            </a:r>
          </a:p>
        </p:txBody>
      </p:sp>
      <p:sp>
        <p:nvSpPr>
          <p:cNvPr id="50" name="Rounded Rectangle 49">
            <a:hlinkClick action="ppaction://hlinksldjump" r:id="rId10"/>
          </p:cNvPr>
          <p:cNvSpPr/>
          <p:nvPr/>
        </p:nvSpPr>
        <p:spPr>
          <a:xfrm>
            <a:off x="365760" y="3840480"/>
            <a:ext cx="2743200" cy="196596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65760" y="3840480"/>
            <a:ext cx="2743200" cy="411480"/>
          </a:xfrm>
          <a:prstGeom prst="rect">
            <a:avLst/>
          </a:prstGeom>
          <a:solidFill>
            <a:srgbClr val="00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39136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S5 Impl. + Mant.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45720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663"/>
                </a:solidFill>
                <a:latin typeface="Calibri"/>
              </a:defRPr>
            </a:pPr>
            <a:r>
              <a:t>Entrega y vida útil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53035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5B4F"/>
                </a:solidFill>
                <a:latin typeface="Calibri"/>
              </a:defRPr>
            </a:pPr>
            <a:r>
              <a:t>Abrir →</a:t>
            </a:r>
          </a:p>
        </p:txBody>
      </p:sp>
      <p:sp>
        <p:nvSpPr>
          <p:cNvPr id="55" name="Rounded Rectangle 54">
            <a:hlinkClick action="ppaction://hlinksldjump" r:id="rId11"/>
          </p:cNvPr>
          <p:cNvSpPr/>
          <p:nvPr/>
        </p:nvSpPr>
        <p:spPr>
          <a:xfrm>
            <a:off x="3291840" y="3840480"/>
            <a:ext cx="2743200" cy="196596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291840" y="3840480"/>
            <a:ext cx="2743200" cy="411480"/>
          </a:xfrm>
          <a:prstGeom prst="rect">
            <a:avLst/>
          </a:prstGeom>
          <a:solidFill>
            <a:srgbClr val="00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91840" y="39136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Galería UI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74720" y="45720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663"/>
                </a:solidFill>
                <a:latin typeface="Calibri"/>
              </a:defRPr>
            </a:pPr>
            <a:r>
              <a:t>Capturas Web / Android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474720" y="53035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5B4F"/>
                </a:solidFill>
                <a:latin typeface="Calibri"/>
              </a:defRPr>
            </a:pPr>
            <a:r>
              <a:t>Abrir →</a:t>
            </a:r>
          </a:p>
        </p:txBody>
      </p:sp>
      <p:sp>
        <p:nvSpPr>
          <p:cNvPr id="60" name="Rounded Rectangle 59">
            <a:hlinkClick action="ppaction://hlinksldjump" r:id="rId12"/>
          </p:cNvPr>
          <p:cNvSpPr/>
          <p:nvPr/>
        </p:nvSpPr>
        <p:spPr>
          <a:xfrm>
            <a:off x="6217920" y="3840480"/>
            <a:ext cx="2743200" cy="196596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217920" y="3840480"/>
            <a:ext cx="2743200" cy="411480"/>
          </a:xfrm>
          <a:prstGeom prst="rect">
            <a:avLst/>
          </a:prstGeom>
          <a:solidFill>
            <a:srgbClr val="00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17920" y="39136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Diagramas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0" y="45720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663"/>
                </a:solidFill>
                <a:latin typeface="Calibri"/>
              </a:defRPr>
            </a:pPr>
            <a:r>
              <a:t>ER · Flujos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0" y="53035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5B4F"/>
                </a:solidFill>
                <a:latin typeface="Calibri"/>
              </a:defRPr>
            </a:pPr>
            <a:r>
              <a:t>Abrir →</a:t>
            </a:r>
          </a:p>
        </p:txBody>
      </p:sp>
      <p:sp>
        <p:nvSpPr>
          <p:cNvPr id="65" name="Rounded Rectangle 64">
            <a:hlinkClick action="ppaction://hlinksldjump" r:id="rId13"/>
          </p:cNvPr>
          <p:cNvSpPr/>
          <p:nvPr/>
        </p:nvSpPr>
        <p:spPr>
          <a:xfrm>
            <a:off x="9144000" y="3840480"/>
            <a:ext cx="2743200" cy="196596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144000" y="3840480"/>
            <a:ext cx="2743200" cy="411480"/>
          </a:xfrm>
          <a:prstGeom prst="rect">
            <a:avLst/>
          </a:prstGeom>
          <a:solidFill>
            <a:srgbClr val="00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144000" y="39136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Pruebas visual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26880" y="45720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663"/>
                </a:solidFill>
                <a:latin typeface="Calibri"/>
              </a:defRPr>
            </a:pPr>
            <a:r>
              <a:t>Soldados · módulos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326880" y="53035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5B4F"/>
                </a:solidFill>
                <a:latin typeface="Calibri"/>
              </a:defRPr>
            </a:pPr>
            <a:r>
              <a:t>Abrir 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57200"/>
          </a:xfrm>
          <a:prstGeom prst="rect">
            <a:avLst/>
          </a:prstGeom>
        </p:spPr>
      </p:pic>
      <p:pic>
        <p:nvPicPr>
          <p:cNvPr id="4" name="Picture 3" descr="TacticalPtx_logo_v6_digital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5720"/>
            <a:ext cx="347472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7315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Defensa  ·  TacticalPtx  ·  CVDS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731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D0E0DC"/>
                </a:solidFill>
                <a:latin typeface="Calibri"/>
              </a:defRPr>
            </a:pPr>
            <a:r>
              <a:t>Marco 184–185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274320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Inicio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1444752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4752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Menú</a:t>
            </a:r>
          </a:p>
        </p:txBody>
      </p:sp>
      <p:sp>
        <p:nvSpPr>
          <p:cNvPr id="11" name="Rounded Rectangle 10">
            <a:hlinkClick action="ppaction://hlinksldjump" r:id="rId6"/>
          </p:cNvPr>
          <p:cNvSpPr/>
          <p:nvPr/>
        </p:nvSpPr>
        <p:spPr>
          <a:xfrm>
            <a:off x="2615184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15184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S1</a:t>
            </a:r>
          </a:p>
        </p:txBody>
      </p:sp>
      <p:sp>
        <p:nvSpPr>
          <p:cNvPr id="13" name="Rounded Rectangle 12">
            <a:hlinkClick action="ppaction://hlinksldjump" r:id="rId7"/>
          </p:cNvPr>
          <p:cNvSpPr/>
          <p:nvPr/>
        </p:nvSpPr>
        <p:spPr>
          <a:xfrm>
            <a:off x="3785616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85616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S2</a:t>
            </a:r>
          </a:p>
        </p:txBody>
      </p:sp>
      <p:sp>
        <p:nvSpPr>
          <p:cNvPr id="15" name="Rounded Rectangle 14">
            <a:hlinkClick action="ppaction://hlinksldjump" r:id="rId8"/>
          </p:cNvPr>
          <p:cNvSpPr/>
          <p:nvPr/>
        </p:nvSpPr>
        <p:spPr>
          <a:xfrm>
            <a:off x="4956048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S3</a:t>
            </a:r>
          </a:p>
        </p:txBody>
      </p:sp>
      <p:sp>
        <p:nvSpPr>
          <p:cNvPr id="17" name="Rounded Rectangle 16">
            <a:hlinkClick action="ppaction://hlinksldjump" r:id="rId9"/>
          </p:cNvPr>
          <p:cNvSpPr/>
          <p:nvPr/>
        </p:nvSpPr>
        <p:spPr>
          <a:xfrm>
            <a:off x="6126480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S4</a:t>
            </a:r>
          </a:p>
        </p:txBody>
      </p:sp>
      <p:sp>
        <p:nvSpPr>
          <p:cNvPr id="19" name="Rounded Rectangle 18">
            <a:hlinkClick action="ppaction://hlinksldjump" r:id="rId10"/>
          </p:cNvPr>
          <p:cNvSpPr/>
          <p:nvPr/>
        </p:nvSpPr>
        <p:spPr>
          <a:xfrm>
            <a:off x="7296912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96912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S5</a:t>
            </a:r>
          </a:p>
        </p:txBody>
      </p:sp>
      <p:sp>
        <p:nvSpPr>
          <p:cNvPr id="21" name="Rounded Rectangle 20">
            <a:hlinkClick action="ppaction://hlinksldjump" r:id="rId11"/>
          </p:cNvPr>
          <p:cNvSpPr/>
          <p:nvPr/>
        </p:nvSpPr>
        <p:spPr>
          <a:xfrm>
            <a:off x="8467344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UI</a:t>
            </a:r>
          </a:p>
        </p:txBody>
      </p:sp>
      <p:sp>
        <p:nvSpPr>
          <p:cNvPr id="23" name="Rounded Rectangle 22">
            <a:hlinkClick action="ppaction://hlinksldjump" r:id="rId12"/>
          </p:cNvPr>
          <p:cNvSpPr/>
          <p:nvPr/>
        </p:nvSpPr>
        <p:spPr>
          <a:xfrm>
            <a:off x="9637776" y="566928"/>
            <a:ext cx="13258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37776" y="603504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Diagramas</a:t>
            </a:r>
          </a:p>
        </p:txBody>
      </p:sp>
      <p:sp>
        <p:nvSpPr>
          <p:cNvPr id="25" name="Rounded Rectangle 24">
            <a:hlinkClick action="ppaction://hlinksldjump" r:id="rId13"/>
          </p:cNvPr>
          <p:cNvSpPr/>
          <p:nvPr/>
        </p:nvSpPr>
        <p:spPr>
          <a:xfrm>
            <a:off x="11036808" y="566928"/>
            <a:ext cx="13258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36808" y="603504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Pruebas+</a:t>
            </a:r>
          </a:p>
        </p:txBody>
      </p:sp>
      <p:pic>
        <p:nvPicPr>
          <p:cNvPr id="27" name="Picture 26" descr="footer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6537960"/>
            <a:ext cx="12191695" cy="3200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20040" y="6583680"/>
            <a:ext cx="11521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663"/>
                </a:solidFill>
                <a:latin typeface="Calibri"/>
              </a:defRPr>
            </a:pPr>
            <a:r>
              <a:t>TacticalPtx  |  APK 1.8.46+55 · API 1.8.21  |  Agosto 2026  |  Clic en chips para navegar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61A1D"/>
                </a:solidFill>
                <a:latin typeface="Calibri"/>
              </a:defRPr>
            </a:pPr>
            <a:r>
              <a:t>Definición del CVDS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1645920"/>
            <a:ext cx="5486400" cy="429768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" y="1645920"/>
            <a:ext cx="109728" cy="4297680"/>
          </a:xfrm>
          <a:prstGeom prst="rect">
            <a:avLst/>
          </a:prstGeom>
          <a:solidFill>
            <a:srgbClr val="00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1920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57F2C"/>
                </a:solidFill>
                <a:latin typeface="Calibri"/>
              </a:defRPr>
            </a:pPr>
            <a:r>
              <a:t>184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246888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61A1D"/>
                </a:solidFill>
                <a:latin typeface="Calibri"/>
              </a:defRPr>
            </a:pPr>
            <a:r>
              <a:t>Etapas para concebir y entregar como producto final un sistema de información, sin importar el área donde se requiera.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1645920"/>
            <a:ext cx="5486400" cy="429768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1645920"/>
            <a:ext cx="109728" cy="4297680"/>
          </a:xfrm>
          <a:prstGeom prst="rect">
            <a:avLst/>
          </a:prstGeom>
          <a:solidFill>
            <a:srgbClr val="A57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1920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57F2C"/>
                </a:solidFill>
                <a:latin typeface="Calibri"/>
              </a:defRPr>
            </a:pPr>
            <a:r>
              <a:t>185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246888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61A1D"/>
                </a:solidFill>
                <a:latin typeface="Calibri"/>
              </a:defRPr>
            </a:pPr>
            <a:r>
              <a:t>Cada etapa → fases → iteraciones.</a:t>
            </a:r>
            <a:br/>
            <a:br/>
            <a:r>
              <a:t>Cada iteración produce una nueva versión del producto.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57200"/>
          </a:xfrm>
          <a:prstGeom prst="rect">
            <a:avLst/>
          </a:prstGeom>
        </p:spPr>
      </p:pic>
      <p:pic>
        <p:nvPicPr>
          <p:cNvPr id="4" name="Picture 3" descr="TacticalPtx_logo_v6_digital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5720"/>
            <a:ext cx="347472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7315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Defensa  ·  TacticalPtx  ·  CVDS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731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D0E0DC"/>
                </a:solidFill>
                <a:latin typeface="Calibri"/>
              </a:defRPr>
            </a:pPr>
            <a:r>
              <a:t>Etapas A–F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274320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Inicio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1444752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4752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Menú</a:t>
            </a:r>
          </a:p>
        </p:txBody>
      </p:sp>
      <p:sp>
        <p:nvSpPr>
          <p:cNvPr id="11" name="Rounded Rectangle 10">
            <a:hlinkClick action="ppaction://hlinksldjump" r:id="rId6"/>
          </p:cNvPr>
          <p:cNvSpPr/>
          <p:nvPr/>
        </p:nvSpPr>
        <p:spPr>
          <a:xfrm>
            <a:off x="2615184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15184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S1</a:t>
            </a:r>
          </a:p>
        </p:txBody>
      </p:sp>
      <p:sp>
        <p:nvSpPr>
          <p:cNvPr id="13" name="Rounded Rectangle 12">
            <a:hlinkClick action="ppaction://hlinksldjump" r:id="rId7"/>
          </p:cNvPr>
          <p:cNvSpPr/>
          <p:nvPr/>
        </p:nvSpPr>
        <p:spPr>
          <a:xfrm>
            <a:off x="3785616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85616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S2</a:t>
            </a:r>
          </a:p>
        </p:txBody>
      </p:sp>
      <p:sp>
        <p:nvSpPr>
          <p:cNvPr id="15" name="Rounded Rectangle 14">
            <a:hlinkClick action="ppaction://hlinksldjump" r:id="rId8"/>
          </p:cNvPr>
          <p:cNvSpPr/>
          <p:nvPr/>
        </p:nvSpPr>
        <p:spPr>
          <a:xfrm>
            <a:off x="4956048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S3</a:t>
            </a:r>
          </a:p>
        </p:txBody>
      </p:sp>
      <p:sp>
        <p:nvSpPr>
          <p:cNvPr id="17" name="Rounded Rectangle 16">
            <a:hlinkClick action="ppaction://hlinksldjump" r:id="rId9"/>
          </p:cNvPr>
          <p:cNvSpPr/>
          <p:nvPr/>
        </p:nvSpPr>
        <p:spPr>
          <a:xfrm>
            <a:off x="6126480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S4</a:t>
            </a:r>
          </a:p>
        </p:txBody>
      </p:sp>
      <p:sp>
        <p:nvSpPr>
          <p:cNvPr id="19" name="Rounded Rectangle 18">
            <a:hlinkClick action="ppaction://hlinksldjump" r:id="rId10"/>
          </p:cNvPr>
          <p:cNvSpPr/>
          <p:nvPr/>
        </p:nvSpPr>
        <p:spPr>
          <a:xfrm>
            <a:off x="7296912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96912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S5</a:t>
            </a:r>
          </a:p>
        </p:txBody>
      </p:sp>
      <p:sp>
        <p:nvSpPr>
          <p:cNvPr id="21" name="Rounded Rectangle 20">
            <a:hlinkClick action="ppaction://hlinksldjump" r:id="rId11"/>
          </p:cNvPr>
          <p:cNvSpPr/>
          <p:nvPr/>
        </p:nvSpPr>
        <p:spPr>
          <a:xfrm>
            <a:off x="8467344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UI</a:t>
            </a:r>
          </a:p>
        </p:txBody>
      </p:sp>
      <p:sp>
        <p:nvSpPr>
          <p:cNvPr id="23" name="Rounded Rectangle 22">
            <a:hlinkClick action="ppaction://hlinksldjump" r:id="rId12"/>
          </p:cNvPr>
          <p:cNvSpPr/>
          <p:nvPr/>
        </p:nvSpPr>
        <p:spPr>
          <a:xfrm>
            <a:off x="9637776" y="566928"/>
            <a:ext cx="13258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37776" y="603504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Diagramas</a:t>
            </a:r>
          </a:p>
        </p:txBody>
      </p:sp>
      <p:sp>
        <p:nvSpPr>
          <p:cNvPr id="25" name="Rounded Rectangle 24">
            <a:hlinkClick action="ppaction://hlinksldjump" r:id="rId13"/>
          </p:cNvPr>
          <p:cNvSpPr/>
          <p:nvPr/>
        </p:nvSpPr>
        <p:spPr>
          <a:xfrm>
            <a:off x="11036808" y="566928"/>
            <a:ext cx="13258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36808" y="603504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Pruebas+</a:t>
            </a:r>
          </a:p>
        </p:txBody>
      </p:sp>
      <p:pic>
        <p:nvPicPr>
          <p:cNvPr id="27" name="Picture 26" descr="footer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6537960"/>
            <a:ext cx="12191695" cy="3200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20040" y="6583680"/>
            <a:ext cx="11521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663"/>
                </a:solidFill>
                <a:latin typeface="Calibri"/>
              </a:defRPr>
            </a:pPr>
            <a:r>
              <a:t>TacticalPtx  |  APK 1.8.46+55 · API 1.8.21  |  Agosto 2026  |  Clic en chips para navegar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61A1D"/>
                </a:solidFill>
                <a:latin typeface="Calibri"/>
              </a:defRPr>
            </a:pPr>
            <a:r>
              <a:t>Seis etapas del ciclo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1554480"/>
            <a:ext cx="11247120" cy="64008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1554480"/>
            <a:ext cx="640080" cy="640080"/>
          </a:xfrm>
          <a:prstGeom prst="rect">
            <a:avLst/>
          </a:prstGeom>
          <a:solidFill>
            <a:srgbClr val="00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1691639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1A1D"/>
                </a:solidFill>
                <a:latin typeface="Calibri"/>
              </a:defRPr>
            </a:pPr>
            <a:r>
              <a:t>Análisis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171907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663"/>
                </a:solidFill>
                <a:latin typeface="Calibri"/>
              </a:defRPr>
            </a:pPr>
            <a:r>
              <a:t>Requerimientos, casos de uso, ER, flujos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2286000"/>
            <a:ext cx="11247120" cy="64008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2286000"/>
            <a:ext cx="640080" cy="640080"/>
          </a:xfrm>
          <a:prstGeom prst="rect">
            <a:avLst/>
          </a:prstGeom>
          <a:solidFill>
            <a:srgbClr val="1E5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24231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2377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1A1D"/>
                </a:solidFill>
                <a:latin typeface="Calibri"/>
              </a:defRPr>
            </a:pPr>
            <a:r>
              <a:t>Diseño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245059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663"/>
                </a:solidFill>
                <a:latin typeface="Calibri"/>
              </a:defRPr>
            </a:pPr>
            <a:r>
              <a:t>Vistas, reportes, capturas, accesos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3017520"/>
            <a:ext cx="11247120" cy="64008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3017520"/>
            <a:ext cx="640080" cy="640080"/>
          </a:xfrm>
          <a:prstGeom prst="rect">
            <a:avLst/>
          </a:prstGeom>
          <a:solidFill>
            <a:srgbClr val="00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3154679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3108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1A1D"/>
                </a:solidFill>
                <a:latin typeface="Calibri"/>
              </a:defRPr>
            </a:pPr>
            <a:r>
              <a:t>Desarrollo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0" y="318211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663"/>
                </a:solidFill>
                <a:latin typeface="Calibri"/>
              </a:defRPr>
            </a:pPr>
            <a:r>
              <a:t>Programación Web / Android / API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3749040"/>
            <a:ext cx="11247120" cy="64008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3749040"/>
            <a:ext cx="640080" cy="640080"/>
          </a:xfrm>
          <a:prstGeom prst="rect">
            <a:avLst/>
          </a:prstGeom>
          <a:solidFill>
            <a:srgbClr val="1E5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38862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71600" y="3840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1A1D"/>
                </a:solidFill>
                <a:latin typeface="Calibri"/>
              </a:defRPr>
            </a:pPr>
            <a:r>
              <a:t>Pruebas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9120" y="391363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663"/>
                </a:solidFill>
                <a:latin typeface="Calibri"/>
              </a:defRPr>
            </a:pPr>
            <a:r>
              <a:t>Módulos y prueba global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4480560"/>
            <a:ext cx="11247120" cy="64008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7200" y="4480560"/>
            <a:ext cx="640080" cy="640080"/>
          </a:xfrm>
          <a:prstGeom prst="rect">
            <a:avLst/>
          </a:prstGeom>
          <a:solidFill>
            <a:srgbClr val="00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46177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71600" y="4572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1A1D"/>
                </a:solidFill>
                <a:latin typeface="Calibri"/>
              </a:defRPr>
            </a:pPr>
            <a:r>
              <a:t>Implementación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89120" y="464515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663"/>
                </a:solidFill>
                <a:latin typeface="Calibri"/>
              </a:defRPr>
            </a:pPr>
            <a:r>
              <a:t>Servidores, BD, publicación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5212080"/>
            <a:ext cx="11247120" cy="64008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57200" y="5212080"/>
            <a:ext cx="640080" cy="640080"/>
          </a:xfrm>
          <a:prstGeom prst="rect">
            <a:avLst/>
          </a:prstGeom>
          <a:solidFill>
            <a:srgbClr val="1E5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53492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71600" y="5303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1A1D"/>
                </a:solidFill>
                <a:latin typeface="Calibri"/>
              </a:defRPr>
            </a:pPr>
            <a:r>
              <a:t>Mantenimiento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89120" y="537667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663"/>
                </a:solidFill>
                <a:latin typeface="Calibri"/>
              </a:defRPr>
            </a:pPr>
            <a:r>
              <a:t>Vida útil del sistema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57200"/>
          </a:xfrm>
          <a:prstGeom prst="rect">
            <a:avLst/>
          </a:prstGeom>
        </p:spPr>
      </p:pic>
      <p:pic>
        <p:nvPicPr>
          <p:cNvPr id="4" name="Picture 3" descr="TacticalPtx_logo_v6_digital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5720"/>
            <a:ext cx="347472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7315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Defensa  ·  TacticalPtx  ·  CVDS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731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D0E0DC"/>
                </a:solidFill>
                <a:latin typeface="Calibri"/>
              </a:defRPr>
            </a:pPr>
            <a:r>
              <a:t>Semana 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274320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Inicio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1444752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4752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Menú</a:t>
            </a:r>
          </a:p>
        </p:txBody>
      </p:sp>
      <p:sp>
        <p:nvSpPr>
          <p:cNvPr id="11" name="Rounded Rectangle 10">
            <a:hlinkClick action="ppaction://hlinksldjump" r:id="rId6"/>
          </p:cNvPr>
          <p:cNvSpPr/>
          <p:nvPr/>
        </p:nvSpPr>
        <p:spPr>
          <a:xfrm>
            <a:off x="2615184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002F2A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15184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S1</a:t>
            </a:r>
          </a:p>
        </p:txBody>
      </p:sp>
      <p:sp>
        <p:nvSpPr>
          <p:cNvPr id="13" name="Rounded Rectangle 12">
            <a:hlinkClick action="ppaction://hlinksldjump" r:id="rId7"/>
          </p:cNvPr>
          <p:cNvSpPr/>
          <p:nvPr/>
        </p:nvSpPr>
        <p:spPr>
          <a:xfrm>
            <a:off x="3785616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85616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S2</a:t>
            </a:r>
          </a:p>
        </p:txBody>
      </p:sp>
      <p:sp>
        <p:nvSpPr>
          <p:cNvPr id="15" name="Rounded Rectangle 14">
            <a:hlinkClick action="ppaction://hlinksldjump" r:id="rId8"/>
          </p:cNvPr>
          <p:cNvSpPr/>
          <p:nvPr/>
        </p:nvSpPr>
        <p:spPr>
          <a:xfrm>
            <a:off x="4956048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S3</a:t>
            </a:r>
          </a:p>
        </p:txBody>
      </p:sp>
      <p:sp>
        <p:nvSpPr>
          <p:cNvPr id="17" name="Rounded Rectangle 16">
            <a:hlinkClick action="ppaction://hlinksldjump" r:id="rId9"/>
          </p:cNvPr>
          <p:cNvSpPr/>
          <p:nvPr/>
        </p:nvSpPr>
        <p:spPr>
          <a:xfrm>
            <a:off x="6126480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S4</a:t>
            </a:r>
          </a:p>
        </p:txBody>
      </p:sp>
      <p:sp>
        <p:nvSpPr>
          <p:cNvPr id="19" name="Rounded Rectangle 18">
            <a:hlinkClick action="ppaction://hlinksldjump" r:id="rId10"/>
          </p:cNvPr>
          <p:cNvSpPr/>
          <p:nvPr/>
        </p:nvSpPr>
        <p:spPr>
          <a:xfrm>
            <a:off x="7296912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96912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S5</a:t>
            </a:r>
          </a:p>
        </p:txBody>
      </p:sp>
      <p:sp>
        <p:nvSpPr>
          <p:cNvPr id="21" name="Rounded Rectangle 20">
            <a:hlinkClick action="ppaction://hlinksldjump" r:id="rId11"/>
          </p:cNvPr>
          <p:cNvSpPr/>
          <p:nvPr/>
        </p:nvSpPr>
        <p:spPr>
          <a:xfrm>
            <a:off x="8467344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UI</a:t>
            </a:r>
          </a:p>
        </p:txBody>
      </p:sp>
      <p:sp>
        <p:nvSpPr>
          <p:cNvPr id="23" name="Rounded Rectangle 22">
            <a:hlinkClick action="ppaction://hlinksldjump" r:id="rId12"/>
          </p:cNvPr>
          <p:cNvSpPr/>
          <p:nvPr/>
        </p:nvSpPr>
        <p:spPr>
          <a:xfrm>
            <a:off x="9637776" y="566928"/>
            <a:ext cx="13258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37776" y="603504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Diagramas</a:t>
            </a:r>
          </a:p>
        </p:txBody>
      </p:sp>
      <p:sp>
        <p:nvSpPr>
          <p:cNvPr id="25" name="Rounded Rectangle 24">
            <a:hlinkClick action="ppaction://hlinksldjump" r:id="rId13"/>
          </p:cNvPr>
          <p:cNvSpPr/>
          <p:nvPr/>
        </p:nvSpPr>
        <p:spPr>
          <a:xfrm>
            <a:off x="11036808" y="566928"/>
            <a:ext cx="13258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36808" y="603504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Pruebas+</a:t>
            </a:r>
          </a:p>
        </p:txBody>
      </p:sp>
      <p:pic>
        <p:nvPicPr>
          <p:cNvPr id="27" name="Picture 26" descr="footer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6537960"/>
            <a:ext cx="12191695" cy="3200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20040" y="6583680"/>
            <a:ext cx="11521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663"/>
                </a:solidFill>
                <a:latin typeface="Calibri"/>
              </a:defRPr>
            </a:pPr>
            <a:r>
              <a:t>TacticalPtx  |  APK 1.8.46+55 · API 1.8.21  |  Agosto 2026  |  Clic en chips para navegar</a:t>
            </a:r>
          </a:p>
        </p:txBody>
      </p:sp>
      <p:pic>
        <p:nvPicPr>
          <p:cNvPr id="29" name="Picture 28" descr="week1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5760" y="1097280"/>
            <a:ext cx="3108960" cy="310896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3749039" y="1097280"/>
            <a:ext cx="7955279" cy="475488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749039" y="1097280"/>
            <a:ext cx="7955279" cy="73152"/>
          </a:xfrm>
          <a:prstGeom prst="rect">
            <a:avLst/>
          </a:prstGeom>
          <a:solidFill>
            <a:srgbClr val="00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2336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61A1D"/>
                </a:solidFill>
                <a:latin typeface="Calibri"/>
              </a:defRPr>
            </a:pPr>
            <a:r>
              <a:t>Análisis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0" y="1965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C6663"/>
                </a:solidFill>
                <a:latin typeface="Calibri"/>
              </a:defRPr>
            </a:pPr>
            <a:r>
              <a:t>Requerimientos y modelos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0" y="2560320"/>
            <a:ext cx="91440" cy="365760"/>
          </a:xfrm>
          <a:prstGeom prst="rect">
            <a:avLst/>
          </a:prstGeom>
          <a:solidFill>
            <a:srgbClr val="A57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256032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1A1D"/>
                </a:solidFill>
                <a:latin typeface="Calibri"/>
              </a:defRPr>
            </a:pPr>
            <a:r>
              <a:t>Requerimientos de unidades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0" y="3200400"/>
            <a:ext cx="91440" cy="365760"/>
          </a:xfrm>
          <a:prstGeom prst="rect">
            <a:avLst/>
          </a:prstGeom>
          <a:solidFill>
            <a:srgbClr val="A57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34840" y="32004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1A1D"/>
                </a:solidFill>
                <a:latin typeface="Calibri"/>
              </a:defRPr>
            </a:pPr>
            <a:r>
              <a:t>Casos de uso y alcance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0" y="3840479"/>
            <a:ext cx="91440" cy="365760"/>
          </a:xfrm>
          <a:prstGeom prst="rect">
            <a:avLst/>
          </a:prstGeom>
          <a:solidFill>
            <a:srgbClr val="A57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3840479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1A1D"/>
                </a:solidFill>
                <a:latin typeface="Calibri"/>
              </a:defRPr>
            </a:pPr>
            <a:r>
              <a:t>Diccionario de datos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0" y="4480559"/>
            <a:ext cx="91440" cy="365760"/>
          </a:xfrm>
          <a:prstGeom prst="rect">
            <a:avLst/>
          </a:prstGeom>
          <a:solidFill>
            <a:srgbClr val="A57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4840" y="4480559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1A1D"/>
                </a:solidFill>
                <a:latin typeface="Calibri"/>
              </a:defRPr>
            </a:pPr>
            <a:r>
              <a:t>Diagramas ER y de flujo</a:t>
            </a:r>
          </a:p>
        </p:txBody>
      </p:sp>
      <p:sp>
        <p:nvSpPr>
          <p:cNvPr id="42" name="Rounded Rectangle 41">
            <a:hlinkClick action="ppaction://hlinksldjump" r:id="rId5"/>
          </p:cNvPr>
          <p:cNvSpPr/>
          <p:nvPr/>
        </p:nvSpPr>
        <p:spPr>
          <a:xfrm>
            <a:off x="365760" y="5943600"/>
            <a:ext cx="1828800" cy="365760"/>
          </a:xfrm>
          <a:prstGeom prst="roundRect">
            <a:avLst>
              <a:gd name="adj" fmla="val 6000"/>
            </a:avLst>
          </a:prstGeom>
          <a:solidFill>
            <a:srgbClr val="002F2A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5989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← Menú</a:t>
            </a:r>
          </a:p>
        </p:txBody>
      </p:sp>
      <p:sp>
        <p:nvSpPr>
          <p:cNvPr id="44" name="Rounded Rectangle 43">
            <a:hlinkClick action="ppaction://hlinksldjump" r:id="rId7"/>
          </p:cNvPr>
          <p:cNvSpPr/>
          <p:nvPr/>
        </p:nvSpPr>
        <p:spPr>
          <a:xfrm>
            <a:off x="2377440" y="5943600"/>
            <a:ext cx="2011680" cy="365760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77440" y="5989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2F2A"/>
                </a:solidFill>
                <a:latin typeface="Calibri"/>
              </a:defRPr>
            </a:pPr>
            <a:r>
              <a:t>Semana 2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57200"/>
          </a:xfrm>
          <a:prstGeom prst="rect">
            <a:avLst/>
          </a:prstGeom>
        </p:spPr>
      </p:pic>
      <p:pic>
        <p:nvPicPr>
          <p:cNvPr id="4" name="Picture 3" descr="TacticalPtx_logo_v6_digital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5720"/>
            <a:ext cx="347472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7315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Defensa  ·  TacticalPtx  ·  CVDS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731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D0E0DC"/>
                </a:solidFill>
                <a:latin typeface="Calibri"/>
              </a:defRPr>
            </a:pPr>
            <a:r>
              <a:t>Semana 2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274320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Inicio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1444752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4752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Menú</a:t>
            </a:r>
          </a:p>
        </p:txBody>
      </p:sp>
      <p:sp>
        <p:nvSpPr>
          <p:cNvPr id="11" name="Rounded Rectangle 10">
            <a:hlinkClick action="ppaction://hlinksldjump" r:id="rId6"/>
          </p:cNvPr>
          <p:cNvSpPr/>
          <p:nvPr/>
        </p:nvSpPr>
        <p:spPr>
          <a:xfrm>
            <a:off x="2615184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15184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S1</a:t>
            </a:r>
          </a:p>
        </p:txBody>
      </p:sp>
      <p:sp>
        <p:nvSpPr>
          <p:cNvPr id="13" name="Rounded Rectangle 12">
            <a:hlinkClick action="ppaction://hlinksldjump" r:id="rId7"/>
          </p:cNvPr>
          <p:cNvSpPr/>
          <p:nvPr/>
        </p:nvSpPr>
        <p:spPr>
          <a:xfrm>
            <a:off x="3785616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002F2A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85616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S2</a:t>
            </a:r>
          </a:p>
        </p:txBody>
      </p:sp>
      <p:sp>
        <p:nvSpPr>
          <p:cNvPr id="15" name="Rounded Rectangle 14">
            <a:hlinkClick action="ppaction://hlinksldjump" r:id="rId8"/>
          </p:cNvPr>
          <p:cNvSpPr/>
          <p:nvPr/>
        </p:nvSpPr>
        <p:spPr>
          <a:xfrm>
            <a:off x="4956048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S3</a:t>
            </a:r>
          </a:p>
        </p:txBody>
      </p:sp>
      <p:sp>
        <p:nvSpPr>
          <p:cNvPr id="17" name="Rounded Rectangle 16">
            <a:hlinkClick action="ppaction://hlinksldjump" r:id="rId9"/>
          </p:cNvPr>
          <p:cNvSpPr/>
          <p:nvPr/>
        </p:nvSpPr>
        <p:spPr>
          <a:xfrm>
            <a:off x="6126480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S4</a:t>
            </a:r>
          </a:p>
        </p:txBody>
      </p:sp>
      <p:sp>
        <p:nvSpPr>
          <p:cNvPr id="19" name="Rounded Rectangle 18">
            <a:hlinkClick action="ppaction://hlinksldjump" r:id="rId10"/>
          </p:cNvPr>
          <p:cNvSpPr/>
          <p:nvPr/>
        </p:nvSpPr>
        <p:spPr>
          <a:xfrm>
            <a:off x="7296912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96912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S5</a:t>
            </a:r>
          </a:p>
        </p:txBody>
      </p:sp>
      <p:sp>
        <p:nvSpPr>
          <p:cNvPr id="21" name="Rounded Rectangle 20">
            <a:hlinkClick action="ppaction://hlinksldjump" r:id="rId11"/>
          </p:cNvPr>
          <p:cNvSpPr/>
          <p:nvPr/>
        </p:nvSpPr>
        <p:spPr>
          <a:xfrm>
            <a:off x="8467344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UI</a:t>
            </a:r>
          </a:p>
        </p:txBody>
      </p:sp>
      <p:sp>
        <p:nvSpPr>
          <p:cNvPr id="23" name="Rounded Rectangle 22">
            <a:hlinkClick action="ppaction://hlinksldjump" r:id="rId12"/>
          </p:cNvPr>
          <p:cNvSpPr/>
          <p:nvPr/>
        </p:nvSpPr>
        <p:spPr>
          <a:xfrm>
            <a:off x="9637776" y="566928"/>
            <a:ext cx="13258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37776" y="603504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Diagramas</a:t>
            </a:r>
          </a:p>
        </p:txBody>
      </p:sp>
      <p:sp>
        <p:nvSpPr>
          <p:cNvPr id="25" name="Rounded Rectangle 24">
            <a:hlinkClick action="ppaction://hlinksldjump" r:id="rId13"/>
          </p:cNvPr>
          <p:cNvSpPr/>
          <p:nvPr/>
        </p:nvSpPr>
        <p:spPr>
          <a:xfrm>
            <a:off x="11036808" y="566928"/>
            <a:ext cx="13258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36808" y="603504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Pruebas+</a:t>
            </a:r>
          </a:p>
        </p:txBody>
      </p:sp>
      <p:pic>
        <p:nvPicPr>
          <p:cNvPr id="27" name="Picture 26" descr="footer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6537960"/>
            <a:ext cx="12191695" cy="3200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20040" y="6583680"/>
            <a:ext cx="11521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663"/>
                </a:solidFill>
                <a:latin typeface="Calibri"/>
              </a:defRPr>
            </a:pPr>
            <a:r>
              <a:t>TacticalPtx  |  APK 1.8.46+55 · API 1.8.21  |  Agosto 2026  |  Clic en chips para navegar</a:t>
            </a:r>
          </a:p>
        </p:txBody>
      </p:sp>
      <p:pic>
        <p:nvPicPr>
          <p:cNvPr id="29" name="Picture 28" descr="week2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5760" y="1097280"/>
            <a:ext cx="3108960" cy="310896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3749039" y="1097280"/>
            <a:ext cx="7955279" cy="475488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749039" y="1097280"/>
            <a:ext cx="7955279" cy="73152"/>
          </a:xfrm>
          <a:prstGeom prst="rect">
            <a:avLst/>
          </a:prstGeom>
          <a:solidFill>
            <a:srgbClr val="00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2336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61A1D"/>
                </a:solidFill>
                <a:latin typeface="Calibri"/>
              </a:defRPr>
            </a:pPr>
            <a:r>
              <a:t>Diseño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0" y="1965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C6663"/>
                </a:solidFill>
                <a:latin typeface="Calibri"/>
              </a:defRPr>
            </a:pPr>
            <a:r>
              <a:t>Vistas, reportes y accesos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0" y="2560320"/>
            <a:ext cx="91440" cy="365760"/>
          </a:xfrm>
          <a:prstGeom prst="rect">
            <a:avLst/>
          </a:prstGeom>
          <a:solidFill>
            <a:srgbClr val="A57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256032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1A1D"/>
                </a:solidFill>
                <a:latin typeface="Calibri"/>
              </a:defRPr>
            </a:pPr>
            <a:r>
              <a:t>Vistas Web y Android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0" y="3200400"/>
            <a:ext cx="91440" cy="365760"/>
          </a:xfrm>
          <a:prstGeom prst="rect">
            <a:avLst/>
          </a:prstGeom>
          <a:solidFill>
            <a:srgbClr val="A57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34840" y="32004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1A1D"/>
                </a:solidFill>
                <a:latin typeface="Calibri"/>
              </a:defRPr>
            </a:pPr>
            <a:r>
              <a:t>Consultas y reportes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0" y="3840479"/>
            <a:ext cx="91440" cy="365760"/>
          </a:xfrm>
          <a:prstGeom prst="rect">
            <a:avLst/>
          </a:prstGeom>
          <a:solidFill>
            <a:srgbClr val="A57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3840479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1A1D"/>
                </a:solidFill>
                <a:latin typeface="Calibri"/>
              </a:defRPr>
            </a:pPr>
            <a:r>
              <a:t>Pantallas de captura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0" y="4480559"/>
            <a:ext cx="91440" cy="365760"/>
          </a:xfrm>
          <a:prstGeom prst="rect">
            <a:avLst/>
          </a:prstGeom>
          <a:solidFill>
            <a:srgbClr val="A57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4840" y="4480559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1A1D"/>
                </a:solidFill>
                <a:latin typeface="Calibri"/>
              </a:defRPr>
            </a:pPr>
            <a:r>
              <a:t>Niveles de acceso</a:t>
            </a:r>
          </a:p>
        </p:txBody>
      </p:sp>
      <p:sp>
        <p:nvSpPr>
          <p:cNvPr id="42" name="Rounded Rectangle 41">
            <a:hlinkClick action="ppaction://hlinksldjump" r:id="rId5"/>
          </p:cNvPr>
          <p:cNvSpPr/>
          <p:nvPr/>
        </p:nvSpPr>
        <p:spPr>
          <a:xfrm>
            <a:off x="365760" y="5943600"/>
            <a:ext cx="1828800" cy="365760"/>
          </a:xfrm>
          <a:prstGeom prst="roundRect">
            <a:avLst>
              <a:gd name="adj" fmla="val 6000"/>
            </a:avLst>
          </a:prstGeom>
          <a:solidFill>
            <a:srgbClr val="002F2A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5989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← Menú</a:t>
            </a:r>
          </a:p>
        </p:txBody>
      </p:sp>
      <p:sp>
        <p:nvSpPr>
          <p:cNvPr id="44" name="Rounded Rectangle 43">
            <a:hlinkClick action="ppaction://hlinksldjump" r:id="rId8"/>
          </p:cNvPr>
          <p:cNvSpPr/>
          <p:nvPr/>
        </p:nvSpPr>
        <p:spPr>
          <a:xfrm>
            <a:off x="2377440" y="5943600"/>
            <a:ext cx="2011680" cy="365760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77440" y="5989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2F2A"/>
                </a:solidFill>
                <a:latin typeface="Calibri"/>
              </a:defRPr>
            </a:pPr>
            <a:r>
              <a:t>Semana 3 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57200"/>
          </a:xfrm>
          <a:prstGeom prst="rect">
            <a:avLst/>
          </a:prstGeom>
        </p:spPr>
      </p:pic>
      <p:pic>
        <p:nvPicPr>
          <p:cNvPr id="4" name="Picture 3" descr="TacticalPtx_logo_v6_digital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5720"/>
            <a:ext cx="347472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7315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Defensa  ·  TacticalPtx  ·  CVDS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731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D0E0DC"/>
                </a:solidFill>
                <a:latin typeface="Calibri"/>
              </a:defRPr>
            </a:pPr>
            <a:r>
              <a:t>Semana 3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274320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Inicio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1444752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4752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Menú</a:t>
            </a:r>
          </a:p>
        </p:txBody>
      </p:sp>
      <p:sp>
        <p:nvSpPr>
          <p:cNvPr id="11" name="Rounded Rectangle 10">
            <a:hlinkClick action="ppaction://hlinksldjump" r:id="rId6"/>
          </p:cNvPr>
          <p:cNvSpPr/>
          <p:nvPr/>
        </p:nvSpPr>
        <p:spPr>
          <a:xfrm>
            <a:off x="2615184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15184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S1</a:t>
            </a:r>
          </a:p>
        </p:txBody>
      </p:sp>
      <p:sp>
        <p:nvSpPr>
          <p:cNvPr id="13" name="Rounded Rectangle 12">
            <a:hlinkClick action="ppaction://hlinksldjump" r:id="rId7"/>
          </p:cNvPr>
          <p:cNvSpPr/>
          <p:nvPr/>
        </p:nvSpPr>
        <p:spPr>
          <a:xfrm>
            <a:off x="3785616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85616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S2</a:t>
            </a:r>
          </a:p>
        </p:txBody>
      </p:sp>
      <p:sp>
        <p:nvSpPr>
          <p:cNvPr id="15" name="Rounded Rectangle 14">
            <a:hlinkClick action="ppaction://hlinksldjump" r:id="rId8"/>
          </p:cNvPr>
          <p:cNvSpPr/>
          <p:nvPr/>
        </p:nvSpPr>
        <p:spPr>
          <a:xfrm>
            <a:off x="4956048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002F2A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S3</a:t>
            </a:r>
          </a:p>
        </p:txBody>
      </p:sp>
      <p:sp>
        <p:nvSpPr>
          <p:cNvPr id="17" name="Rounded Rectangle 16">
            <a:hlinkClick action="ppaction://hlinksldjump" r:id="rId9"/>
          </p:cNvPr>
          <p:cNvSpPr/>
          <p:nvPr/>
        </p:nvSpPr>
        <p:spPr>
          <a:xfrm>
            <a:off x="6126480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S4</a:t>
            </a:r>
          </a:p>
        </p:txBody>
      </p:sp>
      <p:sp>
        <p:nvSpPr>
          <p:cNvPr id="19" name="Rounded Rectangle 18">
            <a:hlinkClick action="ppaction://hlinksldjump" r:id="rId10"/>
          </p:cNvPr>
          <p:cNvSpPr/>
          <p:nvPr/>
        </p:nvSpPr>
        <p:spPr>
          <a:xfrm>
            <a:off x="7296912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96912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S5</a:t>
            </a:r>
          </a:p>
        </p:txBody>
      </p:sp>
      <p:sp>
        <p:nvSpPr>
          <p:cNvPr id="21" name="Rounded Rectangle 20">
            <a:hlinkClick action="ppaction://hlinksldjump" r:id="rId11"/>
          </p:cNvPr>
          <p:cNvSpPr/>
          <p:nvPr/>
        </p:nvSpPr>
        <p:spPr>
          <a:xfrm>
            <a:off x="8467344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UI</a:t>
            </a:r>
          </a:p>
        </p:txBody>
      </p:sp>
      <p:sp>
        <p:nvSpPr>
          <p:cNvPr id="23" name="Rounded Rectangle 22">
            <a:hlinkClick action="ppaction://hlinksldjump" r:id="rId12"/>
          </p:cNvPr>
          <p:cNvSpPr/>
          <p:nvPr/>
        </p:nvSpPr>
        <p:spPr>
          <a:xfrm>
            <a:off x="9637776" y="566928"/>
            <a:ext cx="13258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37776" y="603504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Diagramas</a:t>
            </a:r>
          </a:p>
        </p:txBody>
      </p:sp>
      <p:sp>
        <p:nvSpPr>
          <p:cNvPr id="25" name="Rounded Rectangle 24">
            <a:hlinkClick action="ppaction://hlinksldjump" r:id="rId13"/>
          </p:cNvPr>
          <p:cNvSpPr/>
          <p:nvPr/>
        </p:nvSpPr>
        <p:spPr>
          <a:xfrm>
            <a:off x="11036808" y="566928"/>
            <a:ext cx="13258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36808" y="603504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Pruebas+</a:t>
            </a:r>
          </a:p>
        </p:txBody>
      </p:sp>
      <p:pic>
        <p:nvPicPr>
          <p:cNvPr id="27" name="Picture 26" descr="footer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6537960"/>
            <a:ext cx="12191695" cy="3200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20040" y="6583680"/>
            <a:ext cx="11521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663"/>
                </a:solidFill>
                <a:latin typeface="Calibri"/>
              </a:defRPr>
            </a:pPr>
            <a:r>
              <a:t>TacticalPtx  |  APK 1.8.46+55 · API 1.8.21  |  Agosto 2026  |  Clic en chips para navegar</a:t>
            </a:r>
          </a:p>
        </p:txBody>
      </p:sp>
      <p:pic>
        <p:nvPicPr>
          <p:cNvPr id="29" name="Picture 28" descr="week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5760" y="1097280"/>
            <a:ext cx="3108960" cy="310896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3749039" y="1097280"/>
            <a:ext cx="7955279" cy="475488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749039" y="1097280"/>
            <a:ext cx="7955279" cy="73152"/>
          </a:xfrm>
          <a:prstGeom prst="rect">
            <a:avLst/>
          </a:prstGeom>
          <a:solidFill>
            <a:srgbClr val="00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2336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61A1D"/>
                </a:solidFill>
                <a:latin typeface="Calibri"/>
              </a:defRPr>
            </a:pPr>
            <a:r>
              <a:t>Desarrollo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0" y="1965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C6663"/>
                </a:solidFill>
                <a:latin typeface="Calibri"/>
              </a:defRPr>
            </a:pPr>
            <a:r>
              <a:t>Construcción del sistema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0" y="2560320"/>
            <a:ext cx="91440" cy="365760"/>
          </a:xfrm>
          <a:prstGeom prst="rect">
            <a:avLst/>
          </a:prstGeom>
          <a:solidFill>
            <a:srgbClr val="A57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256032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1A1D"/>
                </a:solidFill>
                <a:latin typeface="Calibri"/>
              </a:defRPr>
            </a:pPr>
            <a:r>
              <a:t>API · Web · App Android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0" y="3200400"/>
            <a:ext cx="91440" cy="365760"/>
          </a:xfrm>
          <a:prstGeom prst="rect">
            <a:avLst/>
          </a:prstGeom>
          <a:solidFill>
            <a:srgbClr val="A57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34840" y="32004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1A1D"/>
                </a:solidFill>
                <a:latin typeface="Calibri"/>
              </a:defRPr>
            </a:pPr>
            <a:r>
              <a:t>PTT / chat / GPS / pánico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0" y="3840479"/>
            <a:ext cx="91440" cy="365760"/>
          </a:xfrm>
          <a:prstGeom prst="rect">
            <a:avLst/>
          </a:prstGeom>
          <a:solidFill>
            <a:srgbClr val="A57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3840479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1A1D"/>
                </a:solidFill>
                <a:latin typeface="Calibri"/>
              </a:defRPr>
            </a:pPr>
            <a:r>
              <a:t>Edge HTTPS + OTA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0" y="4480559"/>
            <a:ext cx="91440" cy="365760"/>
          </a:xfrm>
          <a:prstGeom prst="rect">
            <a:avLst/>
          </a:prstGeom>
          <a:solidFill>
            <a:srgbClr val="A57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4840" y="4480559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1A1D"/>
                </a:solidFill>
                <a:latin typeface="Calibri"/>
              </a:defRPr>
            </a:pPr>
            <a:r>
              <a:t>Iteración = versión</a:t>
            </a:r>
          </a:p>
        </p:txBody>
      </p:sp>
      <p:sp>
        <p:nvSpPr>
          <p:cNvPr id="42" name="Rounded Rectangle 41">
            <a:hlinkClick action="ppaction://hlinksldjump" r:id="rId5"/>
          </p:cNvPr>
          <p:cNvSpPr/>
          <p:nvPr/>
        </p:nvSpPr>
        <p:spPr>
          <a:xfrm>
            <a:off x="365760" y="5943600"/>
            <a:ext cx="1828800" cy="365760"/>
          </a:xfrm>
          <a:prstGeom prst="roundRect">
            <a:avLst>
              <a:gd name="adj" fmla="val 6000"/>
            </a:avLst>
          </a:prstGeom>
          <a:solidFill>
            <a:srgbClr val="002F2A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5989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← Menú</a:t>
            </a:r>
          </a:p>
        </p:txBody>
      </p:sp>
      <p:sp>
        <p:nvSpPr>
          <p:cNvPr id="44" name="Rounded Rectangle 43">
            <a:hlinkClick action="ppaction://hlinksldjump" r:id="rId9"/>
          </p:cNvPr>
          <p:cNvSpPr/>
          <p:nvPr/>
        </p:nvSpPr>
        <p:spPr>
          <a:xfrm>
            <a:off x="2377440" y="5943600"/>
            <a:ext cx="2011680" cy="365760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77440" y="5989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2F2A"/>
                </a:solidFill>
                <a:latin typeface="Calibri"/>
              </a:defRPr>
            </a:pPr>
            <a:r>
              <a:t>Semana 4 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57200"/>
          </a:xfrm>
          <a:prstGeom prst="rect">
            <a:avLst/>
          </a:prstGeom>
        </p:spPr>
      </p:pic>
      <p:pic>
        <p:nvPicPr>
          <p:cNvPr id="4" name="Picture 3" descr="TacticalPtx_logo_v6_digital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5720"/>
            <a:ext cx="347472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7315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Defensa  ·  TacticalPtx  ·  CVDS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731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D0E0DC"/>
                </a:solidFill>
                <a:latin typeface="Calibri"/>
              </a:defRPr>
            </a:pPr>
            <a:r>
              <a:t>Semana 4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274320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Inicio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1444752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4752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Menú</a:t>
            </a:r>
          </a:p>
        </p:txBody>
      </p:sp>
      <p:sp>
        <p:nvSpPr>
          <p:cNvPr id="11" name="Rounded Rectangle 10">
            <a:hlinkClick action="ppaction://hlinksldjump" r:id="rId6"/>
          </p:cNvPr>
          <p:cNvSpPr/>
          <p:nvPr/>
        </p:nvSpPr>
        <p:spPr>
          <a:xfrm>
            <a:off x="2615184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15184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S1</a:t>
            </a:r>
          </a:p>
        </p:txBody>
      </p:sp>
      <p:sp>
        <p:nvSpPr>
          <p:cNvPr id="13" name="Rounded Rectangle 12">
            <a:hlinkClick action="ppaction://hlinksldjump" r:id="rId7"/>
          </p:cNvPr>
          <p:cNvSpPr/>
          <p:nvPr/>
        </p:nvSpPr>
        <p:spPr>
          <a:xfrm>
            <a:off x="3785616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85616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S2</a:t>
            </a:r>
          </a:p>
        </p:txBody>
      </p:sp>
      <p:sp>
        <p:nvSpPr>
          <p:cNvPr id="15" name="Rounded Rectangle 14">
            <a:hlinkClick action="ppaction://hlinksldjump" r:id="rId8"/>
          </p:cNvPr>
          <p:cNvSpPr/>
          <p:nvPr/>
        </p:nvSpPr>
        <p:spPr>
          <a:xfrm>
            <a:off x="4956048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S3</a:t>
            </a:r>
          </a:p>
        </p:txBody>
      </p:sp>
      <p:sp>
        <p:nvSpPr>
          <p:cNvPr id="17" name="Rounded Rectangle 16">
            <a:hlinkClick action="ppaction://hlinksldjump" r:id="rId9"/>
          </p:cNvPr>
          <p:cNvSpPr/>
          <p:nvPr/>
        </p:nvSpPr>
        <p:spPr>
          <a:xfrm>
            <a:off x="6126480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002F2A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S4</a:t>
            </a:r>
          </a:p>
        </p:txBody>
      </p:sp>
      <p:sp>
        <p:nvSpPr>
          <p:cNvPr id="19" name="Rounded Rectangle 18">
            <a:hlinkClick action="ppaction://hlinksldjump" r:id="rId10"/>
          </p:cNvPr>
          <p:cNvSpPr/>
          <p:nvPr/>
        </p:nvSpPr>
        <p:spPr>
          <a:xfrm>
            <a:off x="7296912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96912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S5</a:t>
            </a:r>
          </a:p>
        </p:txBody>
      </p:sp>
      <p:sp>
        <p:nvSpPr>
          <p:cNvPr id="21" name="Rounded Rectangle 20">
            <a:hlinkClick action="ppaction://hlinksldjump" r:id="rId11"/>
          </p:cNvPr>
          <p:cNvSpPr/>
          <p:nvPr/>
        </p:nvSpPr>
        <p:spPr>
          <a:xfrm>
            <a:off x="8467344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UI</a:t>
            </a:r>
          </a:p>
        </p:txBody>
      </p:sp>
      <p:sp>
        <p:nvSpPr>
          <p:cNvPr id="23" name="Rounded Rectangle 22">
            <a:hlinkClick action="ppaction://hlinksldjump" r:id="rId12"/>
          </p:cNvPr>
          <p:cNvSpPr/>
          <p:nvPr/>
        </p:nvSpPr>
        <p:spPr>
          <a:xfrm>
            <a:off x="9637776" y="566928"/>
            <a:ext cx="13258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37776" y="603504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Diagramas</a:t>
            </a:r>
          </a:p>
        </p:txBody>
      </p:sp>
      <p:sp>
        <p:nvSpPr>
          <p:cNvPr id="25" name="Rounded Rectangle 24">
            <a:hlinkClick action="ppaction://hlinksldjump" r:id="rId13"/>
          </p:cNvPr>
          <p:cNvSpPr/>
          <p:nvPr/>
        </p:nvSpPr>
        <p:spPr>
          <a:xfrm>
            <a:off x="11036808" y="566928"/>
            <a:ext cx="13258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36808" y="603504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Pruebas+</a:t>
            </a:r>
          </a:p>
        </p:txBody>
      </p:sp>
      <p:pic>
        <p:nvPicPr>
          <p:cNvPr id="27" name="Picture 26" descr="footer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6537960"/>
            <a:ext cx="12191695" cy="3200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20040" y="6583680"/>
            <a:ext cx="11521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663"/>
                </a:solidFill>
                <a:latin typeface="Calibri"/>
              </a:defRPr>
            </a:pPr>
            <a:r>
              <a:t>TacticalPtx  |  APK 1.8.46+55 · API 1.8.21  |  Agosto 2026  |  Clic en chips para navegar</a:t>
            </a:r>
          </a:p>
        </p:txBody>
      </p:sp>
      <p:pic>
        <p:nvPicPr>
          <p:cNvPr id="29" name="Picture 28" descr="week4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5760" y="1097280"/>
            <a:ext cx="3108960" cy="310896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3749039" y="1097280"/>
            <a:ext cx="7955279" cy="475488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749039" y="1097280"/>
            <a:ext cx="7955279" cy="73152"/>
          </a:xfrm>
          <a:prstGeom prst="rect">
            <a:avLst/>
          </a:prstGeom>
          <a:solidFill>
            <a:srgbClr val="00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2336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61A1D"/>
                </a:solidFill>
                <a:latin typeface="Calibri"/>
              </a:defRPr>
            </a:pPr>
            <a:r>
              <a:t>Pruebas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0" y="1965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C6663"/>
                </a:solidFill>
                <a:latin typeface="Calibri"/>
              </a:defRPr>
            </a:pPr>
            <a:r>
              <a:t>Módulos y prueba global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0" y="2560320"/>
            <a:ext cx="91440" cy="365760"/>
          </a:xfrm>
          <a:prstGeom prst="rect">
            <a:avLst/>
          </a:prstGeom>
          <a:solidFill>
            <a:srgbClr val="A57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256032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1A1D"/>
                </a:solidFill>
                <a:latin typeface="Calibri"/>
              </a:defRPr>
            </a:pPr>
            <a:r>
              <a:t>PTT, Chat, GPS, Pánico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0" y="3200400"/>
            <a:ext cx="91440" cy="365760"/>
          </a:xfrm>
          <a:prstGeom prst="rect">
            <a:avLst/>
          </a:prstGeom>
          <a:solidFill>
            <a:srgbClr val="A57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34840" y="32004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1A1D"/>
                </a:solidFill>
                <a:latin typeface="Calibri"/>
              </a:defRPr>
            </a:pPr>
            <a:r>
              <a:t>Prueba global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0" y="3840479"/>
            <a:ext cx="91440" cy="365760"/>
          </a:xfrm>
          <a:prstGeom prst="rect">
            <a:avLst/>
          </a:prstGeom>
          <a:solidFill>
            <a:srgbClr val="A57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3840479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1A1D"/>
                </a:solidFill>
                <a:latin typeface="Calibri"/>
              </a:defRPr>
            </a:pPr>
            <a:r>
              <a:t>Validación en campo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0" y="4480559"/>
            <a:ext cx="91440" cy="365760"/>
          </a:xfrm>
          <a:prstGeom prst="rect">
            <a:avLst/>
          </a:prstGeom>
          <a:solidFill>
            <a:srgbClr val="A57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4840" y="4480559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1A1D"/>
                </a:solidFill>
                <a:latin typeface="Calibri"/>
              </a:defRPr>
            </a:pPr>
            <a:r>
              <a:t>Corrección previa</a:t>
            </a:r>
          </a:p>
        </p:txBody>
      </p:sp>
      <p:sp>
        <p:nvSpPr>
          <p:cNvPr id="42" name="Rounded Rectangle 41">
            <a:hlinkClick action="ppaction://hlinksldjump" r:id="rId5"/>
          </p:cNvPr>
          <p:cNvSpPr/>
          <p:nvPr/>
        </p:nvSpPr>
        <p:spPr>
          <a:xfrm>
            <a:off x="365760" y="5943600"/>
            <a:ext cx="1828800" cy="365760"/>
          </a:xfrm>
          <a:prstGeom prst="roundRect">
            <a:avLst>
              <a:gd name="adj" fmla="val 6000"/>
            </a:avLst>
          </a:prstGeom>
          <a:solidFill>
            <a:srgbClr val="002F2A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5989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← Menú</a:t>
            </a:r>
          </a:p>
        </p:txBody>
      </p:sp>
      <p:sp>
        <p:nvSpPr>
          <p:cNvPr id="44" name="Rounded Rectangle 43">
            <a:hlinkClick action="ppaction://hlinksldjump" r:id="rId10"/>
          </p:cNvPr>
          <p:cNvSpPr/>
          <p:nvPr/>
        </p:nvSpPr>
        <p:spPr>
          <a:xfrm>
            <a:off x="2377440" y="5943600"/>
            <a:ext cx="2011680" cy="365760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77440" y="5989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2F2A"/>
                </a:solidFill>
                <a:latin typeface="Calibri"/>
              </a:defRPr>
            </a:pPr>
            <a:r>
              <a:t>Semana 5 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57200"/>
          </a:xfrm>
          <a:prstGeom prst="rect">
            <a:avLst/>
          </a:prstGeom>
        </p:spPr>
      </p:pic>
      <p:pic>
        <p:nvPicPr>
          <p:cNvPr id="4" name="Picture 3" descr="TacticalPtx_logo_v6_digital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5720"/>
            <a:ext cx="347472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7315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Defensa  ·  TacticalPtx  ·  CVDS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731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D0E0DC"/>
                </a:solidFill>
                <a:latin typeface="Calibri"/>
              </a:defRPr>
            </a:pPr>
            <a:r>
              <a:t>Semana 5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274320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Inicio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1444752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4752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Menú</a:t>
            </a:r>
          </a:p>
        </p:txBody>
      </p:sp>
      <p:sp>
        <p:nvSpPr>
          <p:cNvPr id="11" name="Rounded Rectangle 10">
            <a:hlinkClick action="ppaction://hlinksldjump" r:id="rId6"/>
          </p:cNvPr>
          <p:cNvSpPr/>
          <p:nvPr/>
        </p:nvSpPr>
        <p:spPr>
          <a:xfrm>
            <a:off x="2615184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15184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S1</a:t>
            </a:r>
          </a:p>
        </p:txBody>
      </p:sp>
      <p:sp>
        <p:nvSpPr>
          <p:cNvPr id="13" name="Rounded Rectangle 12">
            <a:hlinkClick action="ppaction://hlinksldjump" r:id="rId7"/>
          </p:cNvPr>
          <p:cNvSpPr/>
          <p:nvPr/>
        </p:nvSpPr>
        <p:spPr>
          <a:xfrm>
            <a:off x="3785616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85616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S2</a:t>
            </a:r>
          </a:p>
        </p:txBody>
      </p:sp>
      <p:sp>
        <p:nvSpPr>
          <p:cNvPr id="15" name="Rounded Rectangle 14">
            <a:hlinkClick action="ppaction://hlinksldjump" r:id="rId8"/>
          </p:cNvPr>
          <p:cNvSpPr/>
          <p:nvPr/>
        </p:nvSpPr>
        <p:spPr>
          <a:xfrm>
            <a:off x="4956048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S3</a:t>
            </a:r>
          </a:p>
        </p:txBody>
      </p:sp>
      <p:sp>
        <p:nvSpPr>
          <p:cNvPr id="17" name="Rounded Rectangle 16">
            <a:hlinkClick action="ppaction://hlinksldjump" r:id="rId9"/>
          </p:cNvPr>
          <p:cNvSpPr/>
          <p:nvPr/>
        </p:nvSpPr>
        <p:spPr>
          <a:xfrm>
            <a:off x="6126480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S4</a:t>
            </a:r>
          </a:p>
        </p:txBody>
      </p:sp>
      <p:sp>
        <p:nvSpPr>
          <p:cNvPr id="19" name="Rounded Rectangle 18">
            <a:hlinkClick action="ppaction://hlinksldjump" r:id="rId10"/>
          </p:cNvPr>
          <p:cNvSpPr/>
          <p:nvPr/>
        </p:nvSpPr>
        <p:spPr>
          <a:xfrm>
            <a:off x="7296912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002F2A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96912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S5</a:t>
            </a:r>
          </a:p>
        </p:txBody>
      </p:sp>
      <p:sp>
        <p:nvSpPr>
          <p:cNvPr id="21" name="Rounded Rectangle 20">
            <a:hlinkClick action="ppaction://hlinksldjump" r:id="rId11"/>
          </p:cNvPr>
          <p:cNvSpPr/>
          <p:nvPr/>
        </p:nvSpPr>
        <p:spPr>
          <a:xfrm>
            <a:off x="8467344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UI</a:t>
            </a:r>
          </a:p>
        </p:txBody>
      </p:sp>
      <p:sp>
        <p:nvSpPr>
          <p:cNvPr id="23" name="Rounded Rectangle 22">
            <a:hlinkClick action="ppaction://hlinksldjump" r:id="rId12"/>
          </p:cNvPr>
          <p:cNvSpPr/>
          <p:nvPr/>
        </p:nvSpPr>
        <p:spPr>
          <a:xfrm>
            <a:off x="9637776" y="566928"/>
            <a:ext cx="13258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37776" y="603504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Diagramas</a:t>
            </a:r>
          </a:p>
        </p:txBody>
      </p:sp>
      <p:sp>
        <p:nvSpPr>
          <p:cNvPr id="25" name="Rounded Rectangle 24">
            <a:hlinkClick action="ppaction://hlinksldjump" r:id="rId13"/>
          </p:cNvPr>
          <p:cNvSpPr/>
          <p:nvPr/>
        </p:nvSpPr>
        <p:spPr>
          <a:xfrm>
            <a:off x="11036808" y="566928"/>
            <a:ext cx="13258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36808" y="603504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Pruebas+</a:t>
            </a:r>
          </a:p>
        </p:txBody>
      </p:sp>
      <p:pic>
        <p:nvPicPr>
          <p:cNvPr id="27" name="Picture 26" descr="footer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6537960"/>
            <a:ext cx="12191695" cy="3200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20040" y="6583680"/>
            <a:ext cx="11521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663"/>
                </a:solidFill>
                <a:latin typeface="Calibri"/>
              </a:defRPr>
            </a:pPr>
            <a:r>
              <a:t>TacticalPtx  |  APK 1.8.46+55 · API 1.8.21  |  Agosto 2026  |  Clic en chips para navegar</a:t>
            </a:r>
          </a:p>
        </p:txBody>
      </p:sp>
      <p:pic>
        <p:nvPicPr>
          <p:cNvPr id="29" name="Picture 28" descr="week5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5760" y="1097280"/>
            <a:ext cx="3108960" cy="310896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3749039" y="1097280"/>
            <a:ext cx="7955279" cy="475488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749039" y="1097280"/>
            <a:ext cx="7955279" cy="73152"/>
          </a:xfrm>
          <a:prstGeom prst="rect">
            <a:avLst/>
          </a:prstGeom>
          <a:solidFill>
            <a:srgbClr val="00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2336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61A1D"/>
                </a:solidFill>
                <a:latin typeface="Calibri"/>
              </a:defRPr>
            </a:pPr>
            <a:r>
              <a:t>Implementación y Mantenimiento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0" y="1965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C6663"/>
                </a:solidFill>
                <a:latin typeface="Calibri"/>
              </a:defRPr>
            </a:pPr>
            <a:r>
              <a:t>Entrega y vida útil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0" y="2560320"/>
            <a:ext cx="91440" cy="365760"/>
          </a:xfrm>
          <a:prstGeom prst="rect">
            <a:avLst/>
          </a:prstGeom>
          <a:solidFill>
            <a:srgbClr val="A57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256032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1A1D"/>
                </a:solidFill>
                <a:latin typeface="Calibri"/>
              </a:defRPr>
            </a:pPr>
            <a:r>
              <a:t>Instalación en servidores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0" y="3200400"/>
            <a:ext cx="91440" cy="365760"/>
          </a:xfrm>
          <a:prstGeom prst="rect">
            <a:avLst/>
          </a:prstGeom>
          <a:solidFill>
            <a:srgbClr val="A57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34840" y="32004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1A1D"/>
                </a:solidFill>
                <a:latin typeface="Calibri"/>
              </a:defRPr>
            </a:pPr>
            <a:r>
              <a:t>BD y publicación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0" y="3840479"/>
            <a:ext cx="91440" cy="365760"/>
          </a:xfrm>
          <a:prstGeom prst="rect">
            <a:avLst/>
          </a:prstGeom>
          <a:solidFill>
            <a:srgbClr val="A57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3840479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1A1D"/>
                </a:solidFill>
                <a:latin typeface="Calibri"/>
              </a:defRPr>
            </a:pPr>
            <a:r>
              <a:t>Mantenimiento continuo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0" y="4480559"/>
            <a:ext cx="91440" cy="365760"/>
          </a:xfrm>
          <a:prstGeom prst="rect">
            <a:avLst/>
          </a:prstGeom>
          <a:solidFill>
            <a:srgbClr val="A57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4840" y="4480559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1A1D"/>
                </a:solidFill>
                <a:latin typeface="Calibri"/>
              </a:defRPr>
            </a:pPr>
            <a:r>
              <a:t>Nuevos req. → ciclo</a:t>
            </a:r>
          </a:p>
        </p:txBody>
      </p:sp>
      <p:sp>
        <p:nvSpPr>
          <p:cNvPr id="42" name="Rounded Rectangle 41">
            <a:hlinkClick action="ppaction://hlinksldjump" r:id="rId5"/>
          </p:cNvPr>
          <p:cNvSpPr/>
          <p:nvPr/>
        </p:nvSpPr>
        <p:spPr>
          <a:xfrm>
            <a:off x="365760" y="5943600"/>
            <a:ext cx="1828800" cy="365760"/>
          </a:xfrm>
          <a:prstGeom prst="roundRect">
            <a:avLst>
              <a:gd name="adj" fmla="val 6000"/>
            </a:avLst>
          </a:prstGeom>
          <a:solidFill>
            <a:srgbClr val="002F2A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5989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← Menú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57200"/>
          </a:xfrm>
          <a:prstGeom prst="rect">
            <a:avLst/>
          </a:prstGeom>
        </p:spPr>
      </p:pic>
      <p:pic>
        <p:nvPicPr>
          <p:cNvPr id="4" name="Picture 3" descr="TacticalPtx_logo_v6_digital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5720"/>
            <a:ext cx="347472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7315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Defensa  ·  TacticalPtx  ·  CVDS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731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D0E0DC"/>
                </a:solidFill>
                <a:latin typeface="Calibri"/>
              </a:defRPr>
            </a:pPr>
            <a:r>
              <a:t>Desarrollo · UI actual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274320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Inicio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1444752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4752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Menú</a:t>
            </a:r>
          </a:p>
        </p:txBody>
      </p:sp>
      <p:sp>
        <p:nvSpPr>
          <p:cNvPr id="11" name="Rounded Rectangle 10">
            <a:hlinkClick action="ppaction://hlinksldjump" r:id="rId6"/>
          </p:cNvPr>
          <p:cNvSpPr/>
          <p:nvPr/>
        </p:nvSpPr>
        <p:spPr>
          <a:xfrm>
            <a:off x="2615184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15184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S1</a:t>
            </a:r>
          </a:p>
        </p:txBody>
      </p:sp>
      <p:sp>
        <p:nvSpPr>
          <p:cNvPr id="13" name="Rounded Rectangle 12">
            <a:hlinkClick action="ppaction://hlinksldjump" r:id="rId7"/>
          </p:cNvPr>
          <p:cNvSpPr/>
          <p:nvPr/>
        </p:nvSpPr>
        <p:spPr>
          <a:xfrm>
            <a:off x="3785616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85616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S2</a:t>
            </a:r>
          </a:p>
        </p:txBody>
      </p:sp>
      <p:sp>
        <p:nvSpPr>
          <p:cNvPr id="15" name="Rounded Rectangle 14">
            <a:hlinkClick action="ppaction://hlinksldjump" r:id="rId8"/>
          </p:cNvPr>
          <p:cNvSpPr/>
          <p:nvPr/>
        </p:nvSpPr>
        <p:spPr>
          <a:xfrm>
            <a:off x="4956048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S3</a:t>
            </a:r>
          </a:p>
        </p:txBody>
      </p:sp>
      <p:sp>
        <p:nvSpPr>
          <p:cNvPr id="17" name="Rounded Rectangle 16">
            <a:hlinkClick action="ppaction://hlinksldjump" r:id="rId9"/>
          </p:cNvPr>
          <p:cNvSpPr/>
          <p:nvPr/>
        </p:nvSpPr>
        <p:spPr>
          <a:xfrm>
            <a:off x="6126480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S4</a:t>
            </a:r>
          </a:p>
        </p:txBody>
      </p:sp>
      <p:sp>
        <p:nvSpPr>
          <p:cNvPr id="19" name="Rounded Rectangle 18">
            <a:hlinkClick action="ppaction://hlinksldjump" r:id="rId10"/>
          </p:cNvPr>
          <p:cNvSpPr/>
          <p:nvPr/>
        </p:nvSpPr>
        <p:spPr>
          <a:xfrm>
            <a:off x="7296912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96912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S5</a:t>
            </a:r>
          </a:p>
        </p:txBody>
      </p:sp>
      <p:sp>
        <p:nvSpPr>
          <p:cNvPr id="21" name="Rounded Rectangle 20">
            <a:hlinkClick action="ppaction://hlinksldjump" r:id="rId11"/>
          </p:cNvPr>
          <p:cNvSpPr/>
          <p:nvPr/>
        </p:nvSpPr>
        <p:spPr>
          <a:xfrm>
            <a:off x="8467344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002F2A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UI</a:t>
            </a:r>
          </a:p>
        </p:txBody>
      </p:sp>
      <p:sp>
        <p:nvSpPr>
          <p:cNvPr id="23" name="Rounded Rectangle 22">
            <a:hlinkClick action="ppaction://hlinksldjump" r:id="rId12"/>
          </p:cNvPr>
          <p:cNvSpPr/>
          <p:nvPr/>
        </p:nvSpPr>
        <p:spPr>
          <a:xfrm>
            <a:off x="9637776" y="566928"/>
            <a:ext cx="13258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37776" y="603504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Diagramas</a:t>
            </a:r>
          </a:p>
        </p:txBody>
      </p:sp>
      <p:sp>
        <p:nvSpPr>
          <p:cNvPr id="25" name="Rounded Rectangle 24">
            <a:hlinkClick action="ppaction://hlinksldjump" r:id="rId13"/>
          </p:cNvPr>
          <p:cNvSpPr/>
          <p:nvPr/>
        </p:nvSpPr>
        <p:spPr>
          <a:xfrm>
            <a:off x="11036808" y="566928"/>
            <a:ext cx="13258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36808" y="603504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Pruebas+</a:t>
            </a:r>
          </a:p>
        </p:txBody>
      </p:sp>
      <p:pic>
        <p:nvPicPr>
          <p:cNvPr id="27" name="Picture 26" descr="footer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6537960"/>
            <a:ext cx="12191695" cy="3200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20040" y="6583680"/>
            <a:ext cx="11521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663"/>
                </a:solidFill>
                <a:latin typeface="Calibri"/>
              </a:defRPr>
            </a:pPr>
            <a:r>
              <a:t>TacticalPtx  |  APK 1.8.46+55 · API 1.8.21  |  Agosto 2026  |  Clic en chips para navegar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61A1D"/>
                </a:solidFill>
                <a:latin typeface="Calibri"/>
              </a:defRPr>
            </a:pPr>
            <a:r>
              <a:t>Capturas Web y Android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" y="1463040"/>
            <a:ext cx="3657600" cy="251460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web_login_ui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9768" y="1572768"/>
            <a:ext cx="3086100" cy="20574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11479" y="36118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F2A"/>
                </a:solidFill>
                <a:latin typeface="Calibri"/>
              </a:defRPr>
            </a:pPr>
            <a:r>
              <a:t>Web · Login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60520" y="1463040"/>
            <a:ext cx="3657600" cy="251460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web_despacho_mapa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70248" y="1572768"/>
            <a:ext cx="3086100" cy="20574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251959" y="36118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F2A"/>
                </a:solidFill>
                <a:latin typeface="Calibri"/>
              </a:defRPr>
            </a:pPr>
            <a:r>
              <a:t>Web · Despacho / Mapa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01000" y="1463040"/>
            <a:ext cx="3657600" cy="251460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web_radio_chat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10727" y="1572768"/>
            <a:ext cx="3086100" cy="20574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092440" y="36118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F2A"/>
                </a:solidFill>
                <a:latin typeface="Calibri"/>
              </a:defRPr>
            </a:pPr>
            <a:r>
              <a:t>Web · Radio / Chat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828800" y="3931920"/>
            <a:ext cx="3840480" cy="260604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android_radio_ptt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38528" y="4041648"/>
            <a:ext cx="1432560" cy="214884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920240" y="6172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F2A"/>
                </a:solidFill>
                <a:latin typeface="Calibri"/>
              </a:defRPr>
            </a:pPr>
            <a:r>
              <a:t>Android · PTT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3931920"/>
            <a:ext cx="3840480" cy="260604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android_chat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10528" y="4041648"/>
            <a:ext cx="1432560" cy="214884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492240" y="6172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F2A"/>
                </a:solidFill>
                <a:latin typeface="Calibri"/>
              </a:defRPr>
            </a:pPr>
            <a:r>
              <a:t>Android · Chat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57200"/>
          </a:xfrm>
          <a:prstGeom prst="rect">
            <a:avLst/>
          </a:prstGeom>
        </p:spPr>
      </p:pic>
      <p:pic>
        <p:nvPicPr>
          <p:cNvPr id="4" name="Picture 3" descr="TacticalPtx_logo_v6_digital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5720"/>
            <a:ext cx="347472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7315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Defensa  ·  TacticalPtx  ·  CVDS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731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D0E0DC"/>
                </a:solidFill>
                <a:latin typeface="Calibri"/>
              </a:defRPr>
            </a:pPr>
            <a:r>
              <a:t>Análisis · Diagramas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274320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Inicio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1444752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4752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Menú</a:t>
            </a:r>
          </a:p>
        </p:txBody>
      </p:sp>
      <p:sp>
        <p:nvSpPr>
          <p:cNvPr id="11" name="Rounded Rectangle 10">
            <a:hlinkClick action="ppaction://hlinksldjump" r:id="rId6"/>
          </p:cNvPr>
          <p:cNvSpPr/>
          <p:nvPr/>
        </p:nvSpPr>
        <p:spPr>
          <a:xfrm>
            <a:off x="2615184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15184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S1</a:t>
            </a:r>
          </a:p>
        </p:txBody>
      </p:sp>
      <p:sp>
        <p:nvSpPr>
          <p:cNvPr id="13" name="Rounded Rectangle 12">
            <a:hlinkClick action="ppaction://hlinksldjump" r:id="rId7"/>
          </p:cNvPr>
          <p:cNvSpPr/>
          <p:nvPr/>
        </p:nvSpPr>
        <p:spPr>
          <a:xfrm>
            <a:off x="3785616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85616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S2</a:t>
            </a:r>
          </a:p>
        </p:txBody>
      </p:sp>
      <p:sp>
        <p:nvSpPr>
          <p:cNvPr id="15" name="Rounded Rectangle 14">
            <a:hlinkClick action="ppaction://hlinksldjump" r:id="rId8"/>
          </p:cNvPr>
          <p:cNvSpPr/>
          <p:nvPr/>
        </p:nvSpPr>
        <p:spPr>
          <a:xfrm>
            <a:off x="4956048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S3</a:t>
            </a:r>
          </a:p>
        </p:txBody>
      </p:sp>
      <p:sp>
        <p:nvSpPr>
          <p:cNvPr id="17" name="Rounded Rectangle 16">
            <a:hlinkClick action="ppaction://hlinksldjump" r:id="rId9"/>
          </p:cNvPr>
          <p:cNvSpPr/>
          <p:nvPr/>
        </p:nvSpPr>
        <p:spPr>
          <a:xfrm>
            <a:off x="6126480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S4</a:t>
            </a:r>
          </a:p>
        </p:txBody>
      </p:sp>
      <p:sp>
        <p:nvSpPr>
          <p:cNvPr id="19" name="Rounded Rectangle 18">
            <a:hlinkClick action="ppaction://hlinksldjump" r:id="rId10"/>
          </p:cNvPr>
          <p:cNvSpPr/>
          <p:nvPr/>
        </p:nvSpPr>
        <p:spPr>
          <a:xfrm>
            <a:off x="7296912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96912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S5</a:t>
            </a:r>
          </a:p>
        </p:txBody>
      </p:sp>
      <p:sp>
        <p:nvSpPr>
          <p:cNvPr id="21" name="Rounded Rectangle 20">
            <a:hlinkClick action="ppaction://hlinksldjump" r:id="rId11"/>
          </p:cNvPr>
          <p:cNvSpPr/>
          <p:nvPr/>
        </p:nvSpPr>
        <p:spPr>
          <a:xfrm>
            <a:off x="8467344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UI</a:t>
            </a:r>
          </a:p>
        </p:txBody>
      </p:sp>
      <p:sp>
        <p:nvSpPr>
          <p:cNvPr id="23" name="Rounded Rectangle 22">
            <a:hlinkClick action="ppaction://hlinksldjump" r:id="rId12"/>
          </p:cNvPr>
          <p:cNvSpPr/>
          <p:nvPr/>
        </p:nvSpPr>
        <p:spPr>
          <a:xfrm>
            <a:off x="9637776" y="566928"/>
            <a:ext cx="1325880" cy="310896"/>
          </a:xfrm>
          <a:prstGeom prst="roundRect">
            <a:avLst>
              <a:gd name="adj" fmla="val 6000"/>
            </a:avLst>
          </a:prstGeom>
          <a:solidFill>
            <a:srgbClr val="002F2A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37776" y="603504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Diagramas</a:t>
            </a:r>
          </a:p>
        </p:txBody>
      </p:sp>
      <p:sp>
        <p:nvSpPr>
          <p:cNvPr id="25" name="Rounded Rectangle 24">
            <a:hlinkClick action="ppaction://hlinksldjump" r:id="rId13"/>
          </p:cNvPr>
          <p:cNvSpPr/>
          <p:nvPr/>
        </p:nvSpPr>
        <p:spPr>
          <a:xfrm>
            <a:off x="11036808" y="566928"/>
            <a:ext cx="13258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36808" y="603504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Pruebas+</a:t>
            </a:r>
          </a:p>
        </p:txBody>
      </p:sp>
      <p:pic>
        <p:nvPicPr>
          <p:cNvPr id="27" name="Picture 26" descr="footer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6537960"/>
            <a:ext cx="12191695" cy="3200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20040" y="6583680"/>
            <a:ext cx="11521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663"/>
                </a:solidFill>
                <a:latin typeface="Calibri"/>
              </a:defRPr>
            </a:pPr>
            <a:r>
              <a:t>TacticalPtx  |  APK 1.8.46+55 · API 1.8.21  |  Agosto 2026  |  Clic en chips para navegar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1005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61A1D"/>
                </a:solidFill>
                <a:latin typeface="Calibri"/>
              </a:defRPr>
            </a:pPr>
            <a:r>
              <a:t>Entidad-relación y flujos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" y="1417320"/>
            <a:ext cx="7589520" cy="475488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diagrama_er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" y="1554480"/>
            <a:ext cx="7168896" cy="448056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57200" y="59893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663"/>
                </a:solidFill>
                <a:latin typeface="Calibri"/>
              </a:defRPr>
            </a:pPr>
            <a:r>
              <a:t>Modelo ER simplificado (organizations · users · groups · messages · locations · panic)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92440" y="1417320"/>
            <a:ext cx="3703320" cy="224028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diagrama_flujo_ptt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83879" y="1508760"/>
            <a:ext cx="3520440" cy="198024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183879" y="33832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F2A"/>
                </a:solidFill>
                <a:latin typeface="Calibri"/>
              </a:defRPr>
            </a:pPr>
            <a:r>
              <a:t>Flujo PTT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2440" y="3794760"/>
            <a:ext cx="3703320" cy="224028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diagrama_flujo_panico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83879" y="3886200"/>
            <a:ext cx="3520440" cy="154019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183879" y="576072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F2A"/>
                </a:solidFill>
                <a:latin typeface="Calibri"/>
              </a:defRPr>
            </a:pPr>
            <a:r>
              <a:t>Flujo Pánico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57200"/>
          </a:xfrm>
          <a:prstGeom prst="rect">
            <a:avLst/>
          </a:prstGeom>
        </p:spPr>
      </p:pic>
      <p:pic>
        <p:nvPicPr>
          <p:cNvPr id="4" name="Picture 3" descr="TacticalPtx_logo_v6_digital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5720"/>
            <a:ext cx="347472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7315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Defensa  ·  TacticalPtx  ·  CVDS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731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D0E0DC"/>
                </a:solidFill>
                <a:latin typeface="Calibri"/>
              </a:defRPr>
            </a:pPr>
            <a:r>
              <a:t>Pruebas · Escenarios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274320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Inicio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1444752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4752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Menú</a:t>
            </a:r>
          </a:p>
        </p:txBody>
      </p:sp>
      <p:sp>
        <p:nvSpPr>
          <p:cNvPr id="11" name="Rounded Rectangle 10">
            <a:hlinkClick action="ppaction://hlinksldjump" r:id="rId6"/>
          </p:cNvPr>
          <p:cNvSpPr/>
          <p:nvPr/>
        </p:nvSpPr>
        <p:spPr>
          <a:xfrm>
            <a:off x="2615184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15184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S1</a:t>
            </a:r>
          </a:p>
        </p:txBody>
      </p:sp>
      <p:sp>
        <p:nvSpPr>
          <p:cNvPr id="13" name="Rounded Rectangle 12">
            <a:hlinkClick action="ppaction://hlinksldjump" r:id="rId7"/>
          </p:cNvPr>
          <p:cNvSpPr/>
          <p:nvPr/>
        </p:nvSpPr>
        <p:spPr>
          <a:xfrm>
            <a:off x="3785616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85616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S2</a:t>
            </a:r>
          </a:p>
        </p:txBody>
      </p:sp>
      <p:sp>
        <p:nvSpPr>
          <p:cNvPr id="15" name="Rounded Rectangle 14">
            <a:hlinkClick action="ppaction://hlinksldjump" r:id="rId8"/>
          </p:cNvPr>
          <p:cNvSpPr/>
          <p:nvPr/>
        </p:nvSpPr>
        <p:spPr>
          <a:xfrm>
            <a:off x="4956048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S3</a:t>
            </a:r>
          </a:p>
        </p:txBody>
      </p:sp>
      <p:sp>
        <p:nvSpPr>
          <p:cNvPr id="17" name="Rounded Rectangle 16">
            <a:hlinkClick action="ppaction://hlinksldjump" r:id="rId9"/>
          </p:cNvPr>
          <p:cNvSpPr/>
          <p:nvPr/>
        </p:nvSpPr>
        <p:spPr>
          <a:xfrm>
            <a:off x="6126480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S4</a:t>
            </a:r>
          </a:p>
        </p:txBody>
      </p:sp>
      <p:sp>
        <p:nvSpPr>
          <p:cNvPr id="19" name="Rounded Rectangle 18">
            <a:hlinkClick action="ppaction://hlinksldjump" r:id="rId10"/>
          </p:cNvPr>
          <p:cNvSpPr/>
          <p:nvPr/>
        </p:nvSpPr>
        <p:spPr>
          <a:xfrm>
            <a:off x="7296912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96912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S5</a:t>
            </a:r>
          </a:p>
        </p:txBody>
      </p:sp>
      <p:sp>
        <p:nvSpPr>
          <p:cNvPr id="21" name="Rounded Rectangle 20">
            <a:hlinkClick action="ppaction://hlinksldjump" r:id="rId11"/>
          </p:cNvPr>
          <p:cNvSpPr/>
          <p:nvPr/>
        </p:nvSpPr>
        <p:spPr>
          <a:xfrm>
            <a:off x="8467344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UI</a:t>
            </a:r>
          </a:p>
        </p:txBody>
      </p:sp>
      <p:sp>
        <p:nvSpPr>
          <p:cNvPr id="23" name="Rounded Rectangle 22">
            <a:hlinkClick action="ppaction://hlinksldjump" r:id="rId12"/>
          </p:cNvPr>
          <p:cNvSpPr/>
          <p:nvPr/>
        </p:nvSpPr>
        <p:spPr>
          <a:xfrm>
            <a:off x="9637776" y="566928"/>
            <a:ext cx="13258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37776" y="603504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Diagramas</a:t>
            </a:r>
          </a:p>
        </p:txBody>
      </p:sp>
      <p:sp>
        <p:nvSpPr>
          <p:cNvPr id="25" name="Rounded Rectangle 24">
            <a:hlinkClick action="ppaction://hlinksldjump" r:id="rId13"/>
          </p:cNvPr>
          <p:cNvSpPr/>
          <p:nvPr/>
        </p:nvSpPr>
        <p:spPr>
          <a:xfrm>
            <a:off x="11036808" y="566928"/>
            <a:ext cx="1325880" cy="310896"/>
          </a:xfrm>
          <a:prstGeom prst="roundRect">
            <a:avLst>
              <a:gd name="adj" fmla="val 6000"/>
            </a:avLst>
          </a:prstGeom>
          <a:solidFill>
            <a:srgbClr val="002F2A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36808" y="603504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Pruebas+</a:t>
            </a:r>
          </a:p>
        </p:txBody>
      </p:sp>
      <p:pic>
        <p:nvPicPr>
          <p:cNvPr id="27" name="Picture 26" descr="footer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6537960"/>
            <a:ext cx="12191695" cy="3200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20040" y="6583680"/>
            <a:ext cx="11521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663"/>
                </a:solidFill>
                <a:latin typeface="Calibri"/>
              </a:defRPr>
            </a:pPr>
            <a:r>
              <a:t>TacticalPtx  |  APK 1.8.46+55 · API 1.8.21  |  Agosto 2026  |  Clic en chips para navegar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1005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61A1D"/>
                </a:solidFill>
                <a:latin typeface="Calibri"/>
              </a:defRPr>
            </a:pPr>
            <a:r>
              <a:t>Comunicación operativa en campo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" y="1417320"/>
            <a:ext cx="7772400" cy="475488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pruebas_soldados_ptt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" y="1554480"/>
            <a:ext cx="6720840" cy="448056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8321040" y="1417320"/>
            <a:ext cx="3383280" cy="77724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21040" y="1417320"/>
            <a:ext cx="137160" cy="777240"/>
          </a:xfrm>
          <a:prstGeom prst="rect">
            <a:avLst/>
          </a:prstGeom>
          <a:solidFill>
            <a:srgbClr val="A57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41080" y="1645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1A1D"/>
                </a:solidFill>
                <a:latin typeface="Calibri"/>
              </a:defRPr>
            </a:pPr>
            <a:r>
              <a:t>Chat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21040" y="2331720"/>
            <a:ext cx="3383280" cy="77724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21040" y="2331720"/>
            <a:ext cx="137160" cy="777240"/>
          </a:xfrm>
          <a:prstGeom prst="rect">
            <a:avLst/>
          </a:prstGeom>
          <a:solidFill>
            <a:srgbClr val="1E5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41080" y="2560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1A1D"/>
                </a:solidFill>
                <a:latin typeface="Calibri"/>
              </a:defRPr>
            </a:pPr>
            <a:r>
              <a:t>GPS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21040" y="3246120"/>
            <a:ext cx="3383280" cy="77724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321040" y="3246120"/>
            <a:ext cx="137160" cy="777240"/>
          </a:xfrm>
          <a:prstGeom prst="rect">
            <a:avLst/>
          </a:prstGeom>
          <a:solidFill>
            <a:srgbClr val="9B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41080" y="3474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1A1D"/>
                </a:solidFill>
                <a:latin typeface="Calibri"/>
              </a:defRPr>
            </a:pPr>
            <a:r>
              <a:t>Pánico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21040" y="4160520"/>
            <a:ext cx="3383280" cy="77724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321040" y="4160520"/>
            <a:ext cx="137160" cy="777240"/>
          </a:xfrm>
          <a:prstGeom prst="rect">
            <a:avLst/>
          </a:prstGeom>
          <a:solidFill>
            <a:srgbClr val="00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41080" y="4389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1A1D"/>
                </a:solidFill>
                <a:latin typeface="Calibri"/>
              </a:defRPr>
            </a:pPr>
            <a:r>
              <a:t>PTT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21040" y="5074920"/>
            <a:ext cx="3383280" cy="77724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321040" y="5074920"/>
            <a:ext cx="137160" cy="777240"/>
          </a:xfrm>
          <a:prstGeom prst="rect">
            <a:avLst/>
          </a:prstGeom>
          <a:solidFill>
            <a:srgbClr val="5C6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41080" y="5303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1A1D"/>
                </a:solidFill>
                <a:latin typeface="Calibri"/>
              </a:defRPr>
            </a:pPr>
            <a:r>
              <a:t>Despacho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57200"/>
          </a:xfrm>
          <a:prstGeom prst="rect">
            <a:avLst/>
          </a:prstGeom>
        </p:spPr>
      </p:pic>
      <p:pic>
        <p:nvPicPr>
          <p:cNvPr id="4" name="Picture 3" descr="TacticalPtx_logo_v6_digital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5720"/>
            <a:ext cx="347472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7315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Defensa  ·  TacticalPtx  ·  CVDS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731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D0E0DC"/>
                </a:solidFill>
                <a:latin typeface="Calibri"/>
              </a:defRPr>
            </a:pPr>
            <a:r>
              <a:t>Ciclo G / H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274320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Inicio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1444752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4752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Menú</a:t>
            </a:r>
          </a:p>
        </p:txBody>
      </p:sp>
      <p:sp>
        <p:nvSpPr>
          <p:cNvPr id="11" name="Rounded Rectangle 10">
            <a:hlinkClick action="ppaction://hlinksldjump" r:id="rId6"/>
          </p:cNvPr>
          <p:cNvSpPr/>
          <p:nvPr/>
        </p:nvSpPr>
        <p:spPr>
          <a:xfrm>
            <a:off x="2615184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15184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S1</a:t>
            </a:r>
          </a:p>
        </p:txBody>
      </p:sp>
      <p:sp>
        <p:nvSpPr>
          <p:cNvPr id="13" name="Rounded Rectangle 12">
            <a:hlinkClick action="ppaction://hlinksldjump" r:id="rId7"/>
          </p:cNvPr>
          <p:cNvSpPr/>
          <p:nvPr/>
        </p:nvSpPr>
        <p:spPr>
          <a:xfrm>
            <a:off x="3785616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85616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S2</a:t>
            </a:r>
          </a:p>
        </p:txBody>
      </p:sp>
      <p:sp>
        <p:nvSpPr>
          <p:cNvPr id="15" name="Rounded Rectangle 14">
            <a:hlinkClick action="ppaction://hlinksldjump" r:id="rId8"/>
          </p:cNvPr>
          <p:cNvSpPr/>
          <p:nvPr/>
        </p:nvSpPr>
        <p:spPr>
          <a:xfrm>
            <a:off x="4956048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S3</a:t>
            </a:r>
          </a:p>
        </p:txBody>
      </p:sp>
      <p:sp>
        <p:nvSpPr>
          <p:cNvPr id="17" name="Rounded Rectangle 16">
            <a:hlinkClick action="ppaction://hlinksldjump" r:id="rId9"/>
          </p:cNvPr>
          <p:cNvSpPr/>
          <p:nvPr/>
        </p:nvSpPr>
        <p:spPr>
          <a:xfrm>
            <a:off x="6126480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S4</a:t>
            </a:r>
          </a:p>
        </p:txBody>
      </p:sp>
      <p:sp>
        <p:nvSpPr>
          <p:cNvPr id="19" name="Rounded Rectangle 18">
            <a:hlinkClick action="ppaction://hlinksldjump" r:id="rId10"/>
          </p:cNvPr>
          <p:cNvSpPr/>
          <p:nvPr/>
        </p:nvSpPr>
        <p:spPr>
          <a:xfrm>
            <a:off x="7296912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96912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S5</a:t>
            </a:r>
          </a:p>
        </p:txBody>
      </p:sp>
      <p:sp>
        <p:nvSpPr>
          <p:cNvPr id="21" name="Rounded Rectangle 20">
            <a:hlinkClick action="ppaction://hlinksldjump" r:id="rId11"/>
          </p:cNvPr>
          <p:cNvSpPr/>
          <p:nvPr/>
        </p:nvSpPr>
        <p:spPr>
          <a:xfrm>
            <a:off x="8467344" y="56692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6035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UI</a:t>
            </a:r>
          </a:p>
        </p:txBody>
      </p:sp>
      <p:sp>
        <p:nvSpPr>
          <p:cNvPr id="23" name="Rounded Rectangle 22">
            <a:hlinkClick action="ppaction://hlinksldjump" r:id="rId12"/>
          </p:cNvPr>
          <p:cNvSpPr/>
          <p:nvPr/>
        </p:nvSpPr>
        <p:spPr>
          <a:xfrm>
            <a:off x="9637776" y="566928"/>
            <a:ext cx="13258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37776" y="603504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Diagramas</a:t>
            </a:r>
          </a:p>
        </p:txBody>
      </p:sp>
      <p:sp>
        <p:nvSpPr>
          <p:cNvPr id="25" name="Rounded Rectangle 24">
            <a:hlinkClick action="ppaction://hlinksldjump" r:id="rId13"/>
          </p:cNvPr>
          <p:cNvSpPr/>
          <p:nvPr/>
        </p:nvSpPr>
        <p:spPr>
          <a:xfrm>
            <a:off x="11036808" y="566928"/>
            <a:ext cx="1325880" cy="310896"/>
          </a:xfrm>
          <a:prstGeom prst="roundRect">
            <a:avLst>
              <a:gd name="adj" fmla="val 6000"/>
            </a:avLst>
          </a:prstGeom>
          <a:solidFill>
            <a:srgbClr val="E8EEEB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36808" y="603504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2F2A"/>
                </a:solidFill>
                <a:latin typeface="Calibri"/>
              </a:defRPr>
            </a:pPr>
            <a:r>
              <a:t>Pruebas+</a:t>
            </a:r>
          </a:p>
        </p:txBody>
      </p:sp>
      <p:pic>
        <p:nvPicPr>
          <p:cNvPr id="27" name="Picture 26" descr="footer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6537960"/>
            <a:ext cx="12191695" cy="3200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20040" y="6583680"/>
            <a:ext cx="11521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663"/>
                </a:solidFill>
                <a:latin typeface="Calibri"/>
              </a:defRPr>
            </a:pPr>
            <a:r>
              <a:t>TacticalPtx  |  APK 1.8.46+55 · API 1.8.21  |  Agosto 2026  |  Clic en chips para navegar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61A1D"/>
                </a:solidFill>
                <a:latin typeface="Calibri"/>
              </a:defRPr>
            </a:pPr>
            <a:r>
              <a:t>Continuidad del sistema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1645920"/>
            <a:ext cx="5486400" cy="429768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" y="1645920"/>
            <a:ext cx="5486400" cy="457200"/>
          </a:xfrm>
          <a:prstGeom prst="rect">
            <a:avLst/>
          </a:prstGeom>
          <a:solidFill>
            <a:srgbClr val="00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17373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G · Nuevos requerimientos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237744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61A1D"/>
                </a:solidFill>
                <a:latin typeface="Calibri"/>
              </a:defRPr>
            </a:pPr>
            <a:r>
              <a:t>Recorren todas las etapas hasta volver a Mantenimiento.</a:t>
            </a:r>
            <a:br/>
            <a:br/>
            <a:r>
              <a:t>Análisis → Diseño → Desarrollo → Pruebas → Implementación → Mantenimiento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1645920"/>
            <a:ext cx="5486400" cy="429768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1645920"/>
            <a:ext cx="5486400" cy="457200"/>
          </a:xfrm>
          <a:prstGeom prst="rect">
            <a:avLst/>
          </a:prstGeom>
          <a:solidFill>
            <a:srgbClr val="A57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17373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H · Cambios sustanciales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237744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61A1D"/>
                </a:solidFill>
                <a:latin typeface="Calibri"/>
              </a:defRPr>
            </a:pPr>
            <a:r>
              <a:t>Análisis completo de nuevo y recorrido de todas las etapas.</a:t>
            </a:r>
            <a:br/>
            <a:br/>
            <a:r>
              <a:t>Al concluir: nueva versión etiquetada del sistema.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2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A57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acticalPtx_logo_v6_digital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2296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F2A"/>
                </a:solidFill>
                <a:latin typeface="Calibri"/>
              </a:defRPr>
            </a:pPr>
            <a:r>
              <a:t>Resumen ejecutivo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61A1D"/>
                </a:solidFill>
                <a:latin typeface="Calibri"/>
              </a:defRPr>
            </a:pPr>
            <a:r>
              <a:t>CVDS en cinco semanas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C6663"/>
                </a:solidFill>
                <a:latin typeface="Calibri"/>
              </a:defRPr>
            </a:pPr>
            <a:r>
              <a:t>S1 Análisis · S2 Diseño · S3 Desarrollo · S4 Pruebas · S5 Implementación y Mantenimiento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2F2A"/>
                </a:solidFill>
                <a:latin typeface="Calibri"/>
              </a:defRPr>
            </a:pPr>
            <a:r>
              <a:t>1.8.46+55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C6663"/>
                </a:solidFill>
                <a:latin typeface="Calibri"/>
              </a:defRPr>
            </a:pPr>
            <a:r>
              <a:t>APK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393192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41605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2F2A"/>
                </a:solidFill>
                <a:latin typeface="Calibri"/>
              </a:defRPr>
            </a:pPr>
            <a:r>
              <a:t>1.8.21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7548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C6663"/>
                </a:solidFill>
                <a:latin typeface="Calibri"/>
              </a:defRPr>
            </a:pPr>
            <a:r>
              <a:t>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93192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41605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2F2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7548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C6663"/>
                </a:solidFill>
                <a:latin typeface="Calibri"/>
              </a:defRPr>
            </a:pPr>
            <a:r>
              <a:t>Semanas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393192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41605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2F2A"/>
                </a:solidFill>
                <a:latin typeface="Calibri"/>
              </a:defRPr>
            </a:pPr>
            <a:r>
              <a:t>A–F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47548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C6663"/>
                </a:solidFill>
                <a:latin typeface="Calibri"/>
              </a:defRPr>
            </a:pPr>
            <a:r>
              <a:t>Etapas CVDS</a:t>
            </a:r>
          </a:p>
        </p:txBody>
      </p:sp>
      <p:sp>
        <p:nvSpPr>
          <p:cNvPr id="21" name="Rounded Rectangle 20">
            <a:hlinkClick action="ppaction://hlinksldjump" r:id="rId3"/>
          </p:cNvPr>
          <p:cNvSpPr/>
          <p:nvPr/>
        </p:nvSpPr>
        <p:spPr>
          <a:xfrm>
            <a:off x="9692640" y="914400"/>
            <a:ext cx="1920240" cy="411480"/>
          </a:xfrm>
          <a:prstGeom prst="roundRect">
            <a:avLst>
              <a:gd name="adj" fmla="val 6000"/>
            </a:avLst>
          </a:prstGeom>
          <a:solidFill>
            <a:srgbClr val="002F2A"/>
          </a:solidFill>
          <a:ln w="12700">
            <a:solidFill>
              <a:srgbClr val="C5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9875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← Menú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