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11" r:id="rId2"/>
    <p:sldId id="265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3756" y="1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9D7B5-A92F-401A-ABB3-93CA244A8639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0A9AF-51D7-4457-A045-8EEFB44621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524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5C46-B398-3DD0-7F66-F7606642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31388C7-44DE-9FF0-29CF-329141279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8300" y="1192213"/>
            <a:ext cx="5719763" cy="3217862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E1FE75-BC29-1414-B032-7A618A813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A0A1E4-4668-64F2-98D8-1018DD722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F3107-FFE8-3645-B89F-777090C37BF5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72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3_Inicio de Cap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0AE3A5-AC7F-F880-B40B-F6F17411E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9579" y="2690840"/>
            <a:ext cx="6605540" cy="5619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pPr lvl="0"/>
            <a:r>
              <a:rPr lang="en-US" dirty="0" err="1"/>
              <a:t>Inicio</a:t>
            </a:r>
            <a:r>
              <a:rPr lang="en-US" dirty="0"/>
              <a:t> de </a:t>
            </a:r>
            <a:r>
              <a:rPr lang="en-US" dirty="0" err="1"/>
              <a:t>capítulo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9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4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image" Target="../media/image7.png"/><Relationship Id="rId5" Type="http://schemas.openxmlformats.org/officeDocument/2006/relationships/slide" Target="slide6.xml"/><Relationship Id="rId10" Type="http://schemas.openxmlformats.org/officeDocument/2006/relationships/image" Target="../media/image6.png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9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11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4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10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11.png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9.png"/><Relationship Id="rId5" Type="http://schemas.openxmlformats.org/officeDocument/2006/relationships/slide" Target="slide5.xml"/><Relationship Id="rId15" Type="http://schemas.openxmlformats.org/officeDocument/2006/relationships/image" Target="../media/image13.png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8.png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6.pn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7042-9F34-9336-30ED-2D993BE8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0E5044E-5B7B-AF12-F44C-691E793F4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33676" y="1567868"/>
            <a:ext cx="6267450" cy="1756357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6210935" algn="l"/>
              </a:tabLst>
            </a:pPr>
            <a:r>
              <a:rPr lang="es-MX" sz="2800"/>
              <a:t>Proyecto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6210935" algn="l"/>
              </a:tabLst>
            </a:pPr>
            <a:r>
              <a:rPr lang="es-MX" sz="2800"/>
              <a:t>“Sistema de comunicación”</a:t>
            </a:r>
            <a:br>
              <a:rPr lang="es-MX" sz="2800"/>
            </a:br>
            <a:r>
              <a:rPr lang="es-MX" sz="2800"/>
              <a:t>Radio, Chat, GPS, Botón de pánico</a:t>
            </a:r>
            <a:endParaRPr lang="es-MX" sz="20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8C0B9B-15B6-B67A-4D02-CF83710B2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6" y="145567"/>
            <a:ext cx="3017696" cy="6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4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8912-7388-5F14-1B66-B951451F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50EEED-2B67-EF07-83BB-B473FC9B631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71F77-3374-DB1A-B01C-4BA2B5C2A6A0}"/>
              </a:ext>
            </a:extLst>
          </p:cNvPr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9AEF0A-2665-FEEC-FB30-D3549BD2F40F}"/>
              </a:ext>
            </a:extLst>
          </p:cNvPr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>
            <a:extLst>
              <a:ext uri="{FF2B5EF4-FFF2-40B4-BE49-F238E27FC236}">
                <a16:creationId xmlns:a16="http://schemas.microsoft.com/office/drawing/2014/main" id="{74F615BF-0E06-5AD2-BE81-47031BE3B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A907A-A029-19EC-F7A4-524013E40C6F}"/>
              </a:ext>
            </a:extLst>
          </p:cNvPr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E652C-43E6-EB42-0412-CAECDF044040}"/>
              </a:ext>
            </a:extLst>
          </p:cNvPr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8" name="Rounded 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450C4A3F-E9AA-59D7-C19F-9B7277478174}"/>
              </a:ext>
            </a:extLst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8F20B-9656-AF81-F9EB-6C2EDB4AB940}"/>
              </a:ext>
            </a:extLst>
          </p:cNvPr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9C619C77-20C1-B0D8-6F19-836410536C9A}"/>
              </a:ext>
            </a:extLst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BE260-FAC6-D9F3-9997-94BC474A7607}"/>
              </a:ext>
            </a:extLst>
          </p:cNvPr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  <a:extLst>
              <a:ext uri="{FF2B5EF4-FFF2-40B4-BE49-F238E27FC236}">
                <a16:creationId xmlns:a16="http://schemas.microsoft.com/office/drawing/2014/main" id="{60773C92-7612-B5E1-0690-5784134830E8}"/>
              </a:ext>
            </a:extLst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D012C7-977E-AE5D-9D87-E644B14DC112}"/>
              </a:ext>
            </a:extLst>
          </p:cNvPr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  <a:extLst>
              <a:ext uri="{FF2B5EF4-FFF2-40B4-BE49-F238E27FC236}">
                <a16:creationId xmlns:a16="http://schemas.microsoft.com/office/drawing/2014/main" id="{0A2D9279-00CC-93EF-DEBC-91EF07F3DD43}"/>
              </a:ext>
            </a:extLst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4BA16-C1F3-7015-A128-26F083CD6BD2}"/>
              </a:ext>
            </a:extLst>
          </p:cNvPr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  <a:extLst>
              <a:ext uri="{FF2B5EF4-FFF2-40B4-BE49-F238E27FC236}">
                <a16:creationId xmlns:a16="http://schemas.microsoft.com/office/drawing/2014/main" id="{ECA4679E-CA14-78D2-5D40-65C507453304}"/>
              </a:ext>
            </a:extLst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61ECA-2780-D0C3-8481-3AF4F97C3DB3}"/>
              </a:ext>
            </a:extLst>
          </p:cNvPr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E371550-C510-DEC6-8617-CACDEE638DB8}"/>
              </a:ext>
            </a:extLst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F84ED7-2503-7D62-52FE-33F93BC95475}"/>
              </a:ext>
            </a:extLst>
          </p:cNvPr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  <a:extLst>
              <a:ext uri="{FF2B5EF4-FFF2-40B4-BE49-F238E27FC236}">
                <a16:creationId xmlns:a16="http://schemas.microsoft.com/office/drawing/2014/main" id="{0F13D7C8-799F-1210-28CF-88AECF14DE2F}"/>
              </a:ext>
            </a:extLst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ADFB47-9A01-ADDD-659E-23A8F46DDAE3}"/>
              </a:ext>
            </a:extLst>
          </p:cNvPr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  <a:extLst>
              <a:ext uri="{FF2B5EF4-FFF2-40B4-BE49-F238E27FC236}">
                <a16:creationId xmlns:a16="http://schemas.microsoft.com/office/drawing/2014/main" id="{B45BD760-A74F-BC54-099D-1B9FA48E38E0}"/>
              </a:ext>
            </a:extLst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A004F0-2EC6-07D1-695A-9FC23D8D8C5E}"/>
              </a:ext>
            </a:extLst>
          </p:cNvPr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  <a:extLst>
              <a:ext uri="{FF2B5EF4-FFF2-40B4-BE49-F238E27FC236}">
                <a16:creationId xmlns:a16="http://schemas.microsoft.com/office/drawing/2014/main" id="{DF181077-6277-6C8F-324A-CDB9E282524E}"/>
              </a:ext>
            </a:extLst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467A57-24C5-1C31-F10A-5009D3508EC7}"/>
              </a:ext>
            </a:extLst>
          </p:cNvPr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pic>
        <p:nvPicPr>
          <p:cNvPr id="26" name="Picture 25" descr="pruebas_soldados_ptt.png">
            <a:extLst>
              <a:ext uri="{FF2B5EF4-FFF2-40B4-BE49-F238E27FC236}">
                <a16:creationId xmlns:a16="http://schemas.microsoft.com/office/drawing/2014/main" id="{30084942-E1FD-3464-6C64-5CE72B3B25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1097280"/>
            <a:ext cx="7680960" cy="5120640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33A6C2-F6A2-AEE5-38E7-9740231EDA97}"/>
              </a:ext>
            </a:extLst>
          </p:cNvPr>
          <p:cNvSpPr/>
          <p:nvPr/>
        </p:nvSpPr>
        <p:spPr>
          <a:xfrm>
            <a:off x="8869680" y="1280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2B034C-ED64-9FEE-3FC9-5FF5E7E597D4}"/>
              </a:ext>
            </a:extLst>
          </p:cNvPr>
          <p:cNvSpPr/>
          <p:nvPr/>
        </p:nvSpPr>
        <p:spPr>
          <a:xfrm>
            <a:off x="8869680" y="1280160"/>
            <a:ext cx="164592" cy="91440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10096F-7988-2116-534E-140E7B64B67E}"/>
              </a:ext>
            </a:extLst>
          </p:cNvPr>
          <p:cNvSpPr txBox="1"/>
          <p:nvPr/>
        </p:nvSpPr>
        <p:spPr>
          <a:xfrm>
            <a:off x="923544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1A1D"/>
                </a:solidFill>
                <a:latin typeface="Calibri"/>
              </a:defRPr>
            </a:pPr>
            <a:r>
              <a:t>PTT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D45DA35-98CB-8991-4E78-06D99E27FA3B}"/>
              </a:ext>
            </a:extLst>
          </p:cNvPr>
          <p:cNvSpPr/>
          <p:nvPr/>
        </p:nvSpPr>
        <p:spPr>
          <a:xfrm>
            <a:off x="8869680" y="2423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A7122-D987-BADF-BE80-9EAB11CA4DD3}"/>
              </a:ext>
            </a:extLst>
          </p:cNvPr>
          <p:cNvSpPr/>
          <p:nvPr/>
        </p:nvSpPr>
        <p:spPr>
          <a:xfrm>
            <a:off x="8869680" y="2423160"/>
            <a:ext cx="164592" cy="91440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48A8D-AD25-EBF3-4D12-6319081411A7}"/>
              </a:ext>
            </a:extLst>
          </p:cNvPr>
          <p:cNvSpPr txBox="1"/>
          <p:nvPr/>
        </p:nvSpPr>
        <p:spPr>
          <a:xfrm>
            <a:off x="9235440" y="2697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1A1D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087F8CC-2750-9CC6-5B90-A092D188EB8F}"/>
              </a:ext>
            </a:extLst>
          </p:cNvPr>
          <p:cNvSpPr/>
          <p:nvPr/>
        </p:nvSpPr>
        <p:spPr>
          <a:xfrm>
            <a:off x="8869680" y="3566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DA10FC-FD55-0D1B-9513-050A154D0DEE}"/>
              </a:ext>
            </a:extLst>
          </p:cNvPr>
          <p:cNvSpPr/>
          <p:nvPr/>
        </p:nvSpPr>
        <p:spPr>
          <a:xfrm>
            <a:off x="8869680" y="3566160"/>
            <a:ext cx="164592" cy="914400"/>
          </a:xfrm>
          <a:prstGeom prst="rect">
            <a:avLst/>
          </a:prstGeom>
          <a:solidFill>
            <a:srgbClr val="1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68321-8129-1C46-270F-3082BF13D2B1}"/>
              </a:ext>
            </a:extLst>
          </p:cNvPr>
          <p:cNvSpPr txBox="1"/>
          <p:nvPr/>
        </p:nvSpPr>
        <p:spPr>
          <a:xfrm>
            <a:off x="92354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1A1D"/>
                </a:solidFill>
                <a:latin typeface="Calibri"/>
              </a:defRPr>
            </a:pPr>
            <a:r>
              <a:t>GPS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3A36C47-36C8-3D97-D7B5-997BEEA37A9E}"/>
              </a:ext>
            </a:extLst>
          </p:cNvPr>
          <p:cNvSpPr/>
          <p:nvPr/>
        </p:nvSpPr>
        <p:spPr>
          <a:xfrm>
            <a:off x="8869680" y="47091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F7CA7D-A8FA-7ACF-9777-8A1528AD767B}"/>
              </a:ext>
            </a:extLst>
          </p:cNvPr>
          <p:cNvSpPr/>
          <p:nvPr/>
        </p:nvSpPr>
        <p:spPr>
          <a:xfrm>
            <a:off x="8869680" y="4709160"/>
            <a:ext cx="164592" cy="914400"/>
          </a:xfrm>
          <a:prstGeom prst="rect">
            <a:avLst/>
          </a:prstGeom>
          <a:solidFill>
            <a:srgbClr val="9B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745E03-70F7-2DF5-23F8-B215D2CDE60B}"/>
              </a:ext>
            </a:extLst>
          </p:cNvPr>
          <p:cNvSpPr txBox="1"/>
          <p:nvPr/>
        </p:nvSpPr>
        <p:spPr>
          <a:xfrm>
            <a:off x="923544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1A1D"/>
                </a:solidFill>
                <a:latin typeface="Calibri"/>
              </a:defRPr>
            </a:pPr>
            <a:r>
              <a:t>Pánico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88D7FD-6C30-DD24-2923-1E1878D3DB0F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282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15112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F2A"/>
                </a:solidFill>
                <a:latin typeface="Calibri"/>
              </a:defRPr>
            </a:pPr>
            <a:r>
              <a:rPr lang="es-MX" sz="2200" dirty="0"/>
              <a:t>Plan de trabajo para el Desarrollo del Sistema</a:t>
            </a:r>
            <a:endParaRPr sz="2200" dirty="0"/>
          </a:p>
        </p:txBody>
      </p:sp>
      <p:pic>
        <p:nvPicPr>
          <p:cNvPr id="9" name="Picture 8" descr="cvds_flujo_completo.png"/>
          <p:cNvPicPr>
            <a:picLocks noChangeAspect="1"/>
          </p:cNvPicPr>
          <p:nvPr/>
        </p:nvPicPr>
        <p:blipFill>
          <a:blip r:embed="rId2"/>
          <a:srcRect t="21871" b="37134"/>
          <a:stretch>
            <a:fillRect/>
          </a:stretch>
        </p:blipFill>
        <p:spPr>
          <a:xfrm>
            <a:off x="1088707" y="1885950"/>
            <a:ext cx="10014585" cy="2095500"/>
          </a:xfrm>
          <a:prstGeom prst="rect">
            <a:avLst/>
          </a:prstGeom>
        </p:spPr>
      </p:pic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548640" y="594360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016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 flujo →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3200400" y="594360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F2A"/>
                </a:solidFill>
                <a:latin typeface="Calibri"/>
              </a:defRPr>
            </a:pPr>
            <a:r>
              <a:t>Semanas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Semana 1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8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9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20" y="1051560"/>
            <a:ext cx="2766060" cy="3015615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1051560"/>
            <a:ext cx="2766060" cy="50292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1143000"/>
            <a:ext cx="27660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</a:t>
            </a:r>
            <a:r>
              <a:rPr lang="es-MX" dirty="0"/>
              <a:t>emana </a:t>
            </a:r>
            <a:r>
              <a:rPr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4543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1A1D"/>
                </a:solidFill>
                <a:latin typeface="Calibri"/>
              </a:defRPr>
            </a:pPr>
            <a:r>
              <a:t>Análisis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377440"/>
            <a:ext cx="2181681" cy="4572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520" y="2651760"/>
            <a:ext cx="27355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5C6663"/>
                </a:solidFill>
                <a:latin typeface="Calibri"/>
              </a:defRPr>
            </a:pPr>
            <a:r>
              <a:rPr lang="es-ES_tradnl" noProof="0" dirty="0"/>
              <a:t>Levantamiento de los requerimientos; elaboración de casos de uso, diccionario de datos y diagramas (flujo / entidad-relación).</a:t>
            </a:r>
          </a:p>
        </p:txBody>
      </p:sp>
      <p:pic>
        <p:nvPicPr>
          <p:cNvPr id="32" name="Picture 31" descr="diagrama_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8210" y="1051560"/>
            <a:ext cx="4629910" cy="2893694"/>
          </a:xfrm>
          <a:prstGeom prst="rect">
            <a:avLst/>
          </a:prstGeom>
        </p:spPr>
      </p:pic>
      <p:pic>
        <p:nvPicPr>
          <p:cNvPr id="33" name="Picture 32" descr="diagrama_flujo_pt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1095" y="1051559"/>
            <a:ext cx="4607560" cy="2591753"/>
          </a:xfrm>
          <a:prstGeom prst="rect">
            <a:avLst/>
          </a:prstGeom>
        </p:spPr>
      </p:pic>
      <p:sp>
        <p:nvSpPr>
          <p:cNvPr id="34" name="Rounded Rectangle 33">
            <a:hlinkClick r:id="rId2" action="ppaction://hlinksldjump"/>
          </p:cNvPr>
          <p:cNvSpPr/>
          <p:nvPr/>
        </p:nvSpPr>
        <p:spPr>
          <a:xfrm>
            <a:off x="3200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Flujo</a:t>
            </a:r>
          </a:p>
        </p:txBody>
      </p:sp>
      <p:sp>
        <p:nvSpPr>
          <p:cNvPr id="36" name="Rounded Rectangle 35">
            <a:hlinkClick r:id="rId4" action="ppaction://hlinksldjump"/>
          </p:cNvPr>
          <p:cNvSpPr/>
          <p:nvPr/>
        </p:nvSpPr>
        <p:spPr>
          <a:xfrm>
            <a:off x="19202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F2A"/>
                </a:solidFill>
                <a:latin typeface="Calibri"/>
              </a:defRPr>
            </a:pPr>
            <a:r>
              <a:t>S2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27" descr="diagrama_flujo_panico.png">
            <a:extLst>
              <a:ext uri="{FF2B5EF4-FFF2-40B4-BE49-F238E27FC236}">
                <a16:creationId xmlns:a16="http://schemas.microsoft.com/office/drawing/2014/main" id="{848FD897-5ED2-8B97-C708-745CA9CC4E6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39580"/>
          <a:stretch>
            <a:fillRect/>
          </a:stretch>
        </p:blipFill>
        <p:spPr>
          <a:xfrm>
            <a:off x="3588130" y="4036123"/>
            <a:ext cx="8207022" cy="21694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Semana 2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1027688"/>
            <a:ext cx="3246120" cy="2944368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1051560"/>
            <a:ext cx="3246120" cy="50292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114300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</a:t>
            </a:r>
            <a:r>
              <a:rPr lang="es-MX" dirty="0"/>
              <a:t>emana </a:t>
            </a:r>
            <a:r>
              <a:rPr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1A1D"/>
                </a:solidFill>
                <a:latin typeface="Calibri"/>
              </a:defRPr>
            </a:pPr>
            <a:r>
              <a:t>Diseño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377440"/>
            <a:ext cx="2560320" cy="4572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651760"/>
            <a:ext cx="2880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5C6663"/>
                </a:solidFill>
                <a:latin typeface="Calibri"/>
              </a:defRPr>
            </a:pPr>
            <a:r>
              <a:rPr lang="es-ES_tradnl" noProof="0" dirty="0"/>
              <a:t>Se definen las vistas a programar, consultas, reportes, pantallas de captura y los niveles de acceso del personal usuario.</a:t>
            </a:r>
          </a:p>
        </p:txBody>
      </p:sp>
      <p:pic>
        <p:nvPicPr>
          <p:cNvPr id="32" name="Picture 31" descr="web_login_ui.png"/>
          <p:cNvPicPr>
            <a:picLocks noChangeAspect="1"/>
          </p:cNvPicPr>
          <p:nvPr/>
        </p:nvPicPr>
        <p:blipFill>
          <a:blip r:embed="rId11"/>
          <a:srcRect l="23863" r="26326" b="30114"/>
          <a:stretch>
            <a:fillRect/>
          </a:stretch>
        </p:blipFill>
        <p:spPr>
          <a:xfrm>
            <a:off x="3749040" y="1051560"/>
            <a:ext cx="3226048" cy="3017520"/>
          </a:xfrm>
          <a:prstGeom prst="rect">
            <a:avLst/>
          </a:prstGeom>
        </p:spPr>
      </p:pic>
      <p:pic>
        <p:nvPicPr>
          <p:cNvPr id="33" name="Picture 32" descr="web_despacho_map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2884" y="1051560"/>
            <a:ext cx="4526280" cy="3017520"/>
          </a:xfrm>
          <a:prstGeom prst="rect">
            <a:avLst/>
          </a:prstGeom>
        </p:spPr>
      </p:pic>
      <p:sp>
        <p:nvSpPr>
          <p:cNvPr id="34" name="Rounded Rectangle 33">
            <a:hlinkClick r:id="rId3" action="ppaction://hlinksldjump"/>
          </p:cNvPr>
          <p:cNvSpPr/>
          <p:nvPr/>
        </p:nvSpPr>
        <p:spPr>
          <a:xfrm>
            <a:off x="3200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Flujo</a:t>
            </a:r>
          </a:p>
        </p:txBody>
      </p:sp>
      <p:sp>
        <p:nvSpPr>
          <p:cNvPr id="36" name="Rounded Rectangle 35">
            <a:hlinkClick r:id="rId6" action="ppaction://hlinksldjump"/>
          </p:cNvPr>
          <p:cNvSpPr/>
          <p:nvPr/>
        </p:nvSpPr>
        <p:spPr>
          <a:xfrm>
            <a:off x="19202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F2A"/>
                </a:solidFill>
                <a:latin typeface="Calibri"/>
              </a:defRPr>
            </a:pPr>
            <a:r>
              <a:t>S3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Semana 3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1051560"/>
            <a:ext cx="3246120" cy="256032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1051560"/>
            <a:ext cx="3246120" cy="50292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114300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</a:t>
            </a:r>
            <a:r>
              <a:rPr lang="es-MX" dirty="0"/>
              <a:t>emana </a:t>
            </a:r>
            <a:r>
              <a:rPr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1A1D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377440"/>
            <a:ext cx="2560320" cy="4572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651760"/>
            <a:ext cx="2880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5C6663"/>
                </a:solidFill>
                <a:latin typeface="Calibri"/>
              </a:defRPr>
            </a:pPr>
            <a:r>
              <a:rPr lang="es-ES_tradnl" noProof="0"/>
              <a:t>Se programa el sistema (API, Web y Android) con base en el análisis y el diseño, generando versiones iterativas del producto.</a:t>
            </a:r>
          </a:p>
        </p:txBody>
      </p:sp>
      <p:pic>
        <p:nvPicPr>
          <p:cNvPr id="32" name="Picture 31" descr="web_radio_cha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7531" y="704087"/>
            <a:ext cx="7653530" cy="5102353"/>
          </a:xfrm>
          <a:prstGeom prst="rect">
            <a:avLst/>
          </a:prstGeom>
        </p:spPr>
      </p:pic>
      <p:pic>
        <p:nvPicPr>
          <p:cNvPr id="33" name="Picture 32" descr="android_radio_pt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1061" y="1003935"/>
            <a:ext cx="2785110" cy="4177665"/>
          </a:xfrm>
          <a:prstGeom prst="rect">
            <a:avLst/>
          </a:prstGeom>
        </p:spPr>
      </p:pic>
      <p:sp>
        <p:nvSpPr>
          <p:cNvPr id="34" name="Rounded Rectangle 33">
            <a:hlinkClick r:id="rId3" action="ppaction://hlinksldjump"/>
          </p:cNvPr>
          <p:cNvSpPr/>
          <p:nvPr/>
        </p:nvSpPr>
        <p:spPr>
          <a:xfrm>
            <a:off x="3200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Flujo</a:t>
            </a:r>
          </a:p>
        </p:txBody>
      </p:sp>
      <p:sp>
        <p:nvSpPr>
          <p:cNvPr id="36" name="Rounded Rectangle 35">
            <a:hlinkClick r:id="rId7" action="ppaction://hlinksldjump"/>
          </p:cNvPr>
          <p:cNvSpPr/>
          <p:nvPr/>
        </p:nvSpPr>
        <p:spPr>
          <a:xfrm>
            <a:off x="19202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F2A"/>
                </a:solidFill>
                <a:latin typeface="Calibri"/>
              </a:defRPr>
            </a:pPr>
            <a:r>
              <a:t>S4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Semana 4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1051560"/>
            <a:ext cx="3246120" cy="256032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1051560"/>
            <a:ext cx="3246120" cy="50292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1143000"/>
            <a:ext cx="3246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</a:t>
            </a:r>
            <a:r>
              <a:rPr lang="es-MX" dirty="0"/>
              <a:t>emana </a:t>
            </a:r>
            <a:r>
              <a:rPr dirty="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1A1D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377440"/>
            <a:ext cx="2560320" cy="4572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651760"/>
            <a:ext cx="28803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5C6663"/>
                </a:solidFill>
                <a:latin typeface="Calibri"/>
              </a:defRPr>
            </a:pPr>
            <a:r>
              <a:rPr lang="es-ES_tradnl" noProof="0"/>
              <a:t>Se aplican pruebas por módulo y de forma global (</a:t>
            </a:r>
            <a:r>
              <a:rPr lang="es-ES_tradnl" noProof="0" dirty="0" err="1"/>
              <a:t>PTT</a:t>
            </a:r>
            <a:r>
              <a:rPr lang="es-ES_tradnl" noProof="0" dirty="0"/>
              <a:t>, chat, GPS, pánico) y se valida en campo antes de la entrega.</a:t>
            </a:r>
          </a:p>
        </p:txBody>
      </p:sp>
      <p:pic>
        <p:nvPicPr>
          <p:cNvPr id="32" name="Picture 31" descr="pruebas_soldados_pt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040" y="1051560"/>
            <a:ext cx="4023360" cy="2682240"/>
          </a:xfrm>
          <a:prstGeom prst="rect">
            <a:avLst/>
          </a:prstGeom>
        </p:spPr>
      </p:pic>
      <p:pic>
        <p:nvPicPr>
          <p:cNvPr id="33" name="Picture 32" descr="android_cha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051560"/>
            <a:ext cx="3139440" cy="4709160"/>
          </a:xfrm>
          <a:prstGeom prst="rect">
            <a:avLst/>
          </a:prstGeom>
        </p:spPr>
      </p:pic>
      <p:sp>
        <p:nvSpPr>
          <p:cNvPr id="34" name="Rounded Rectangle 33">
            <a:hlinkClick r:id="rId3" action="ppaction://hlinksldjump"/>
          </p:cNvPr>
          <p:cNvSpPr/>
          <p:nvPr/>
        </p:nvSpPr>
        <p:spPr>
          <a:xfrm>
            <a:off x="3200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Flujo</a:t>
            </a:r>
          </a:p>
        </p:txBody>
      </p:sp>
      <p:sp>
        <p:nvSpPr>
          <p:cNvPr id="36" name="Rounded Rectangle 35">
            <a:hlinkClick r:id="rId8" action="ppaction://hlinksldjump"/>
          </p:cNvPr>
          <p:cNvSpPr/>
          <p:nvPr/>
        </p:nvSpPr>
        <p:spPr>
          <a:xfrm>
            <a:off x="19202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F2A"/>
                </a:solidFill>
                <a:latin typeface="Calibri"/>
              </a:defRPr>
            </a:pPr>
            <a:r>
              <a:t>S5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Semana 5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1051560"/>
            <a:ext cx="2880360" cy="2731008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1051560"/>
            <a:ext cx="2880360" cy="50292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1143000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</a:t>
            </a:r>
            <a:r>
              <a:rPr lang="es-MX" dirty="0"/>
              <a:t>emana </a:t>
            </a:r>
            <a:r>
              <a:rPr dirty="0"/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783080"/>
            <a:ext cx="25558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1A1D"/>
                </a:solidFill>
                <a:latin typeface="Calibri"/>
              </a:defRPr>
            </a:pPr>
            <a:r>
              <a:rPr dirty="0" err="1"/>
              <a:t>Impl</a:t>
            </a:r>
            <a:r>
              <a:rPr dirty="0"/>
              <a:t>. </a:t>
            </a:r>
            <a:r>
              <a:rPr lang="es-MX" dirty="0"/>
              <a:t>y</a:t>
            </a:r>
            <a:r>
              <a:rPr dirty="0"/>
              <a:t> Mant</a:t>
            </a:r>
            <a:r>
              <a:rPr lang="es-MX" dirty="0"/>
              <a:t>o</a:t>
            </a:r>
            <a:r>
              <a:rPr dirty="0"/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377440"/>
            <a:ext cx="2271833" cy="4572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651760"/>
            <a:ext cx="255581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0">
                <a:solidFill>
                  <a:srgbClr val="5C6663"/>
                </a:solidFill>
                <a:latin typeface="Calibri"/>
              </a:defRPr>
            </a:pPr>
            <a:r>
              <a:rPr lang="es-ES_tradnl" noProof="0"/>
              <a:t>Se entrega e instala en servidores, se crea el entorno de BD y se publica; el mantenimiento continúa durante la vida útil del sistema.</a:t>
            </a:r>
          </a:p>
        </p:txBody>
      </p:sp>
      <p:pic>
        <p:nvPicPr>
          <p:cNvPr id="32" name="Picture 31" descr="web_despacho_map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1612" y="1051560"/>
            <a:ext cx="6122056" cy="4081371"/>
          </a:xfrm>
          <a:prstGeom prst="rect">
            <a:avLst/>
          </a:prstGeom>
        </p:spPr>
      </p:pic>
      <p:pic>
        <p:nvPicPr>
          <p:cNvPr id="33" name="Picture 32" descr="cvds_flujo_vertic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3124" y="1014984"/>
            <a:ext cx="2996738" cy="4709160"/>
          </a:xfrm>
          <a:prstGeom prst="rect">
            <a:avLst/>
          </a:prstGeom>
        </p:spPr>
      </p:pic>
      <p:sp>
        <p:nvSpPr>
          <p:cNvPr id="34" name="Rounded Rectangle 33">
            <a:hlinkClick r:id="rId3" action="ppaction://hlinksldjump"/>
          </p:cNvPr>
          <p:cNvSpPr/>
          <p:nvPr/>
        </p:nvSpPr>
        <p:spPr>
          <a:xfrm>
            <a:off x="320040" y="59893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Flujo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ER</a:t>
            </a:r>
          </a:p>
        </p:txBody>
      </p:sp>
      <p:pic>
        <p:nvPicPr>
          <p:cNvPr id="26" name="Picture 25" descr="web_login_u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320" y="1051560"/>
            <a:ext cx="3703320" cy="2468880"/>
          </a:xfrm>
          <a:prstGeom prst="rect">
            <a:avLst/>
          </a:prstGeom>
        </p:spPr>
      </p:pic>
      <p:pic>
        <p:nvPicPr>
          <p:cNvPr id="27" name="Picture 26" descr="web_despacho_map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6240" y="1051560"/>
            <a:ext cx="3703320" cy="2468880"/>
          </a:xfrm>
          <a:prstGeom prst="rect">
            <a:avLst/>
          </a:prstGeom>
        </p:spPr>
      </p:pic>
      <p:pic>
        <p:nvPicPr>
          <p:cNvPr id="28" name="Picture 27" descr="web_radio_ch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8160" y="1051560"/>
            <a:ext cx="3703320" cy="2468880"/>
          </a:xfrm>
          <a:prstGeom prst="rect">
            <a:avLst/>
          </a:prstGeom>
        </p:spPr>
      </p:pic>
      <p:pic>
        <p:nvPicPr>
          <p:cNvPr id="29" name="Picture 28" descr="android_radio_pt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1680" y="3749039"/>
            <a:ext cx="1706879" cy="2560320"/>
          </a:xfrm>
          <a:prstGeom prst="rect">
            <a:avLst/>
          </a:prstGeom>
        </p:spPr>
      </p:pic>
      <p:pic>
        <p:nvPicPr>
          <p:cNvPr id="30" name="Picture 29" descr="android_cha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749039"/>
            <a:ext cx="1706879" cy="25603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56832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APK 1.8.46+55  ·  API 1.8.21  ·  Clic en chips para navegar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54864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"/>
            <a:ext cx="320040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3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0E0DC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228600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1536192" y="5943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6217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284378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378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396849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093208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217920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7342632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42632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2" name="Rounded Rectangle 21">
            <a:hlinkClick r:id="rId9" action="ppaction://hlinksldjump"/>
          </p:cNvPr>
          <p:cNvSpPr/>
          <p:nvPr/>
        </p:nvSpPr>
        <p:spPr>
          <a:xfrm>
            <a:off x="8467344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9592056" y="594360"/>
            <a:ext cx="1051560" cy="292608"/>
          </a:xfrm>
          <a:prstGeom prst="roundRect">
            <a:avLst>
              <a:gd name="adj" fmla="val 8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2056" y="6217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ER</a:t>
            </a:r>
          </a:p>
        </p:txBody>
      </p:sp>
      <p:pic>
        <p:nvPicPr>
          <p:cNvPr id="26" name="Picture 25" descr="diagrama_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1051560"/>
            <a:ext cx="7589520" cy="4743450"/>
          </a:xfrm>
          <a:prstGeom prst="rect">
            <a:avLst/>
          </a:prstGeom>
        </p:spPr>
      </p:pic>
      <p:pic>
        <p:nvPicPr>
          <p:cNvPr id="27" name="Picture 26" descr="diagrama_flujo_pt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5279" y="1051560"/>
            <a:ext cx="3931920" cy="221170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56832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APK 1.8.46+55  ·  API 1.8.21  ·  Clic en chips para navegar</a:t>
            </a:r>
          </a:p>
        </p:txBody>
      </p:sp>
      <p:pic>
        <p:nvPicPr>
          <p:cNvPr id="32" name="Picture 27" descr="diagrama_flujo_panico.png">
            <a:extLst>
              <a:ext uri="{FF2B5EF4-FFF2-40B4-BE49-F238E27FC236}">
                <a16:creationId xmlns:a16="http://schemas.microsoft.com/office/drawing/2014/main" id="{D33388C8-DF0C-DE9F-659A-A61E307691B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39580"/>
          <a:stretch>
            <a:fillRect/>
          </a:stretch>
        </p:blipFill>
        <p:spPr>
          <a:xfrm>
            <a:off x="5678042" y="4097654"/>
            <a:ext cx="6421198" cy="1697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330</Words>
  <Application>Microsoft Office PowerPoint</Application>
  <PresentationFormat>Panorámica</PresentationFormat>
  <Paragraphs>123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Noto Sans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54</cp:revision>
  <dcterms:created xsi:type="dcterms:W3CDTF">2013-01-27T09:14:16Z</dcterms:created>
  <dcterms:modified xsi:type="dcterms:W3CDTF">2026-09-01T03:35:08Z</dcterms:modified>
  <cp:category/>
</cp:coreProperties>
</file>